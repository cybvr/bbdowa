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3d6f46b6b843ba" /><Relationship Type="http://schemas.openxmlformats.org/officeDocument/2006/relationships/extended-properties" Target="/docProps/app.xml" Id="R1fb9da5223f1433e" /><Relationship Type="http://schemas.openxmlformats.org/officeDocument/2006/relationships/officeDocument" Target="/ppt/presentation.xml" Id="Rc27541cabc634195" /></Relationships>
</file>

<file path=ppt/presentation.xml><?xml version="1.0" encoding="utf-8"?>
<p:presentation xmlns:p="http://schemas.openxmlformats.org/presentationml/2006/main">
  <p:sldMasterIdLst>
    <p:sldMasterId xmlns:r="http://schemas.openxmlformats.org/officeDocument/2006/relationships" id="2147483648" r:id="R768739ad68844256"/>
  </p:sldMasterIdLst>
  <p:notesMasterIdLst>
    <p:notesMasterId xmlns:r="http://schemas.openxmlformats.org/officeDocument/2006/relationships" r:id="R02be8ad00a364170"/>
  </p:notesMasterIdLst>
  <p:sldIdLst>
    <p:sldId xmlns:r="http://schemas.openxmlformats.org/officeDocument/2006/relationships" id="256" r:id="Ra159aeedad3c42bf"/>
    <p:sldId xmlns:r="http://schemas.openxmlformats.org/officeDocument/2006/relationships" id="257" r:id="R54f8e460f51d4082"/>
    <p:sldId xmlns:r="http://schemas.openxmlformats.org/officeDocument/2006/relationships" id="258" r:id="Rcc1944e3a74b4bc5"/>
    <p:sldId xmlns:r="http://schemas.openxmlformats.org/officeDocument/2006/relationships" id="259" r:id="R3bb7aa12b0604cd5"/>
    <p:sldId xmlns:r="http://schemas.openxmlformats.org/officeDocument/2006/relationships" id="260" r:id="Rbf1114226e214c07"/>
    <p:sldId xmlns:r="http://schemas.openxmlformats.org/officeDocument/2006/relationships" id="261" r:id="R4cd40f6d9c7046f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61ded936d647df" /><Relationship Type="http://schemas.openxmlformats.org/officeDocument/2006/relationships/slideMaster" Target="/ppt/slideMasters/slideMaster1.xml" Id="R768739ad68844256" /><Relationship Type="http://schemas.openxmlformats.org/officeDocument/2006/relationships/notesMaster" Target="/ppt/notesMasters/notesMaster1.xml" Id="R02be8ad00a364170" /><Relationship Type="http://schemas.openxmlformats.org/officeDocument/2006/relationships/presProps" Target="/ppt/presProps.xml" Id="R42cd49c2dfa3407d" /><Relationship Type="http://schemas.openxmlformats.org/officeDocument/2006/relationships/tableStyles" Target="/ppt/tableStyles.xml" Id="Rbf24a708262042d5" /><Relationship Type="http://schemas.openxmlformats.org/officeDocument/2006/relationships/slide" Target="/ppt/slides/slide1.xml" Id="Ra159aeedad3c42bf" /><Relationship Type="http://schemas.openxmlformats.org/officeDocument/2006/relationships/slide" Target="/ppt/slides/slide2.xml" Id="R54f8e460f51d4082" /><Relationship Type="http://schemas.openxmlformats.org/officeDocument/2006/relationships/slide" Target="/ppt/slides/slide3.xml" Id="Rcc1944e3a74b4bc5" /><Relationship Type="http://schemas.openxmlformats.org/officeDocument/2006/relationships/slide" Target="/ppt/slides/slide4.xml" Id="R3bb7aa12b0604cd5" /><Relationship Type="http://schemas.openxmlformats.org/officeDocument/2006/relationships/slide" Target="/ppt/slides/slide5.xml" Id="Rbf1114226e214c07" /><Relationship Type="http://schemas.openxmlformats.org/officeDocument/2006/relationships/slide" Target="/ppt/slides/slide6.xml" Id="R4cd40f6d9c7046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39a26733cc44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39a7830a5a49d4" /><Relationship Type="http://schemas.openxmlformats.org/officeDocument/2006/relationships/notesMaster" Target="/ppt/notesMasters/notesMaster1.xml" Id="Rb8ce421f1f7444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d585cc95be4078" /><Relationship Type="http://schemas.openxmlformats.org/officeDocument/2006/relationships/notesMaster" Target="/ppt/notesMasters/notesMaster1.xml" Id="R1e5ca42eeb764b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48a3c7c12641e2" /><Relationship Type="http://schemas.openxmlformats.org/officeDocument/2006/relationships/notesMaster" Target="/ppt/notesMasters/notesMaster1.xml" Id="Rfa5cc588f45c48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8c680f387e4bfe" /><Relationship Type="http://schemas.openxmlformats.org/officeDocument/2006/relationships/notesMaster" Target="/ppt/notesMasters/notesMaster1.xml" Id="Rcb622d56faec43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2fcf419b064f88" /><Relationship Type="http://schemas.openxmlformats.org/officeDocument/2006/relationships/notesMaster" Target="/ppt/notesMasters/notesMaster1.xml" Id="R70ae4731f2fd4d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7b095603fa4f38" /><Relationship Type="http://schemas.openxmlformats.org/officeDocument/2006/relationships/notesMaster" Target="/ppt/notesMasters/notesMaster1.xml" Id="R9a00362f289b40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understanding of the brief for the launch of 1U Bank, Africa's first Utility Bank.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1U intends to serve both sides of the utility economy: the people and businesses that depend on essential services, and the organisations and infrastructure that provide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1U must introduce a new category and earn permission to own it. Four communication tasks: explain, differentiate, reassure, convert.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 Nigerians, connected by the same everyday reality. Money constantly assigned to practical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things the campaign should make the audience do: understand, believe, feel, act, continue.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questions we need answered before finalising the campaign, covering regulation, product scope, audience, trust, support, budget and timing.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838555bb4548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55426628de440c" /><Relationship Type="http://schemas.openxmlformats.org/officeDocument/2006/relationships/slideLayout" Target="/ppt/slideLayouts/slideLayout1.xml" Id="R9482fe7eabf448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82fe7eabf448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615e7cc4b2436f" /><Relationship Type="http://schemas.openxmlformats.org/officeDocument/2006/relationships/image" Target="/ppt/media/image.png" Id="Reacc0efc0dad4994" /><Relationship Type="http://schemas.openxmlformats.org/officeDocument/2006/relationships/image" Target="/ppt/media/image.svg" Id="R20dda1ac1fd24d75" /><Relationship Type="http://schemas.openxmlformats.org/officeDocument/2006/relationships/image" Target="/ppt/media/image.bin" Id="R5c1c32cd151945d5" /><Relationship Type="http://schemas.openxmlformats.org/officeDocument/2006/relationships/notesSlide" Target="/ppt/notesSlides/notesSlide1.xml" Id="R2d2ccb908dc24b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ae19fe029648db" /><Relationship Type="http://schemas.openxmlformats.org/officeDocument/2006/relationships/image" Target="/ppt/media/image.jpeg" Id="R2056443379ee4b11" /><Relationship Type="http://schemas.openxmlformats.org/officeDocument/2006/relationships/image" Target="/ppt/media/image2.bin" Id="R69ba645bca414b9c" /><Relationship Type="http://schemas.openxmlformats.org/officeDocument/2006/relationships/notesSlide" Target="/ppt/notesSlides/notesSlide2.xml" Id="Rb52f01a75fae44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862927f75b4652" /><Relationship Type="http://schemas.openxmlformats.org/officeDocument/2006/relationships/image" Target="/ppt/media/image2.png" Id="Rfb6098e303934cd6" /><Relationship Type="http://schemas.openxmlformats.org/officeDocument/2006/relationships/image" Target="/ppt/media/image2.svg" Id="R252118803dbd4dda" /><Relationship Type="http://schemas.openxmlformats.org/officeDocument/2006/relationships/image" Target="/ppt/media/image3.png" Id="R4fa03df423804a04" /><Relationship Type="http://schemas.openxmlformats.org/officeDocument/2006/relationships/image" Target="/ppt/media/image3.svg" Id="R2e66e8a9b81a434a" /><Relationship Type="http://schemas.openxmlformats.org/officeDocument/2006/relationships/image" Target="/ppt/media/image4.png" Id="R614949e7f8e74f95" /><Relationship Type="http://schemas.openxmlformats.org/officeDocument/2006/relationships/image" Target="/ppt/media/image4.svg" Id="R3e3231423f5b4c82" /><Relationship Type="http://schemas.openxmlformats.org/officeDocument/2006/relationships/image" Target="/ppt/media/image5.png" Id="R4d8ff591c70242d5" /><Relationship Type="http://schemas.openxmlformats.org/officeDocument/2006/relationships/image" Target="/ppt/media/image5.svg" Id="Rcc56e99ea3054ada" /><Relationship Type="http://schemas.openxmlformats.org/officeDocument/2006/relationships/image" Target="/ppt/media/image3.bin" Id="R7344cf85b2cc4ae7" /><Relationship Type="http://schemas.openxmlformats.org/officeDocument/2006/relationships/notesSlide" Target="/ppt/notesSlides/notesSlide3.xml" Id="Rffcb14e428bb48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efee5359ef4bc7" /><Relationship Type="http://schemas.openxmlformats.org/officeDocument/2006/relationships/image" Target="/ppt/media/image2.jpeg" Id="Rc2a0bfe560d74f3c" /><Relationship Type="http://schemas.openxmlformats.org/officeDocument/2006/relationships/image" Target="/ppt/media/image4.bin" Id="R6ef27de34c4f41ba" /><Relationship Type="http://schemas.openxmlformats.org/officeDocument/2006/relationships/notesSlide" Target="/ppt/notesSlides/notesSlide4.xml" Id="R6872f4f36ed046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30d9246f2247be" /><Relationship Type="http://schemas.openxmlformats.org/officeDocument/2006/relationships/image" Target="/ppt/media/image3.jpeg" Id="R5b6e7a379f9942cb" /><Relationship Type="http://schemas.openxmlformats.org/officeDocument/2006/relationships/image" Target="/ppt/media/image4.jpeg" Id="R81aa32679c3d43f1" /><Relationship Type="http://schemas.openxmlformats.org/officeDocument/2006/relationships/image" Target="/ppt/media/image5.jpeg" Id="R014102112bdd4b44" /><Relationship Type="http://schemas.openxmlformats.org/officeDocument/2006/relationships/image" Target="/ppt/media/image6.jpeg" Id="R7cd13e3560c74b54" /><Relationship Type="http://schemas.openxmlformats.org/officeDocument/2006/relationships/image" Target="/ppt/media/image7.jpeg" Id="R0f37d2e190ad47a5" /><Relationship Type="http://schemas.openxmlformats.org/officeDocument/2006/relationships/image" Target="/ppt/media/image5.bin" Id="R09c4f0a0605b41fe" /><Relationship Type="http://schemas.openxmlformats.org/officeDocument/2006/relationships/notesSlide" Target="/ppt/notesSlides/notesSlide5.xml" Id="Raa6735b5301d4f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b9d426ebcb4fdc" /><Relationship Type="http://schemas.openxmlformats.org/officeDocument/2006/relationships/image" Target="/ppt/media/image6.bin" Id="R8a93c6602e994226" /><Relationship Type="http://schemas.openxmlformats.org/officeDocument/2006/relationships/notesSlide" Target="/ppt/notesSlides/notesSlide6.xml" Id="R5f0fe3f8ac2145f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slide.bg">
            <a:extLst xmlns:a="http://schemas.openxmlformats.org/drawingml/2006/main">
              <a:ext uri="{FF2B5EF4-FFF2-40B4-BE49-F238E27FC236}">
                <a16:creationId xmlns:a16="http://schemas.microsoft.com/office/drawing/2014/main" id="{3A7433AC-96E3-4491-AD42-74A427CC6BC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pic>
        <p:nvPicPr>
          <p:cNvPr id="13" name="cover.logo"/>
          <p:cNvPicPr>
            <a:picLocks xmlns:a="http://schemas.openxmlformats.org/drawingml/2006/main" noChangeAspect="1"/>
          </p:cNvPicPr>
          <p:nvPr/>
        </p:nvPicPr>
        <p:blipFill>
          <a:blip xmlns:r="http://schemas.openxmlformats.org/officeDocument/2006/relationships" xmlns:a="http://schemas.openxmlformats.org/drawingml/2006/main" r:embed="Reacc0efc0dad4994">
            <a:extLst>
              <a:ext uri="{96DAC541-7B7A-43D3-8B79-37D633B846F1}">
                <asvg:svgBlip xmlns:asvg="http://schemas.microsoft.com/office/drawing/2016/SVG/main" r:embed="R20dda1ac1fd24d75"/>
              </a:ext>
            </a:extLst>
          </a:blip>
          <a:stretch xmlns:a="http://schemas.openxmlformats.org/drawingml/2006/main"/>
        </p:blipFill>
        <p:spPr>
          <a:xfrm xmlns:a="http://schemas.openxmlformats.org/drawingml/2006/main">
            <a:off x="1143000" y="914400"/>
            <a:ext cx="4953000" cy="1143000"/>
          </a:xfrm>
          <a:prstGeom xmlns:a="http://schemas.openxmlformats.org/drawingml/2006/main" prst="rect">
            <a:avLst/>
          </a:prstGeom>
        </p:spPr>
      </p:pic>
      <p:sp>
        <p:nvSpPr>
          <p:cNvPr id="3" name="cover.headline">
            <a:extLst xmlns:a="http://schemas.openxmlformats.org/drawingml/2006/main">
              <a:ext uri="{FF2B5EF4-FFF2-40B4-BE49-F238E27FC236}">
                <a16:creationId xmlns:a16="http://schemas.microsoft.com/office/drawing/2014/main" id="{1417FEF3-9886-4DA8-8198-F3840EDA7E7D}"/>
              </a:ext>
            </a:extLst>
          </p:cNvPr>
          <p:cNvSpPr>
            <a:spLocks xmlns:a="http://schemas.openxmlformats.org/drawingml/2006/main" noGrp="1"/>
          </p:cNvSpPr>
          <p:nvPr/>
        </p:nvSpPr>
        <p:spPr>
          <a:xfrm xmlns:a="http://schemas.openxmlformats.org/drawingml/2006/main">
            <a:off x="1143000" y="4152900"/>
            <a:ext cx="16002000" cy="281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900" b="1">
                <a:solidFill>
                  <a:srgbClr val="F3F2F2"/>
                </a:solidFill>
                <a:latin typeface="Arial"/>
                <a:ea typeface="Arial"/>
                <a:cs typeface="Arial"/>
              </a:defRPr>
            </a:pPr>
            <a:r>
              <a:t>Understanding</a:t>
            </a:r>
          </a:p>
          <a:p xmlns:a="http://schemas.openxmlformats.org/drawingml/2006/main">
            <a:pPr algn="l">
              <a:defRPr sz="12900" b="1">
                <a:solidFill>
                  <a:srgbClr val="F3F2F2"/>
                </a:solidFill>
                <a:latin typeface="Arial"/>
                <a:ea typeface="Arial"/>
                <a:cs typeface="Arial"/>
              </a:defRPr>
            </a:pPr>
            <a:r>
              <a:t>of the brief</a:t>
            </a:r>
          </a:p>
        </p:txBody>
      </p:sp>
      <p:sp>
        <p:nvSpPr>
          <p:cNvPr id="4" name="rule">
            <a:extLst xmlns:a="http://schemas.openxmlformats.org/drawingml/2006/main">
              <a:ext uri="{FF2B5EF4-FFF2-40B4-BE49-F238E27FC236}">
                <a16:creationId xmlns:a16="http://schemas.microsoft.com/office/drawing/2014/main" id="{0411504A-33AA-404F-8981-5F960DC065A6}"/>
              </a:ext>
            </a:extLst>
          </p:cNvPr>
          <p:cNvSpPr>
            <a:spLocks xmlns:a="http://schemas.openxmlformats.org/drawingml/2006/main" noGrp="1"/>
          </p:cNvSpPr>
          <p:nvPr/>
        </p:nvSpPr>
        <p:spPr>
          <a:xfrm xmlns:a="http://schemas.openxmlformats.org/drawingml/2006/main">
            <a:off x="1143000" y="8286750"/>
            <a:ext cx="16002000" cy="28575"/>
          </a:xfrm>
          <a:prstGeom xmlns:a="http://schemas.openxmlformats.org/drawingml/2006/main" prst="rect">
            <a:avLst/>
          </a:prstGeom>
          <a:solidFill xmlns:a="http://schemas.openxmlformats.org/drawingml/2006/main">
            <a:srgbClr val="72B7FF"/>
          </a:solidFill>
          <a:ln xmlns:a="http://schemas.openxmlformats.org/drawingml/2006/main" w="0">
            <a:noFill/>
            <a:prstDash val="solid"/>
          </a:ln>
        </p:spPr>
      </p:sp>
      <p:sp>
        <p:nvSpPr>
          <p:cNvPr id="5" name="cover.strap">
            <a:extLst xmlns:a="http://schemas.openxmlformats.org/drawingml/2006/main">
              <a:ext uri="{FF2B5EF4-FFF2-40B4-BE49-F238E27FC236}">
                <a16:creationId xmlns:a16="http://schemas.microsoft.com/office/drawing/2014/main" id="{967870CD-8E51-45CA-B7E2-AA157F4A8614}"/>
              </a:ext>
            </a:extLst>
          </p:cNvPr>
          <p:cNvSpPr>
            <a:spLocks xmlns:a="http://schemas.openxmlformats.org/drawingml/2006/main" noGrp="1"/>
          </p:cNvSpPr>
          <p:nvPr/>
        </p:nvSpPr>
        <p:spPr>
          <a:xfrm xmlns:a="http://schemas.openxmlformats.org/drawingml/2006/main">
            <a:off x="1143000" y="8620125"/>
            <a:ext cx="1257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700" b="0">
                <a:solidFill>
                  <a:srgbClr val="F3F2F2"/>
                </a:solidFill>
                <a:latin typeface="Arial"/>
                <a:ea typeface="Arial"/>
                <a:cs typeface="Arial"/>
              </a:defRPr>
            </a:pPr>
            <a:r>
              <a:t>1U Bank Launch Pitch. DDB Lagos, August 2026.</a:t>
            </a:r>
          </a:p>
        </p:txBody>
      </p:sp>
      <p:sp>
        <p:nvSpPr>
          <p:cNvPr id="6" name="footer.bar">
            <a:extLst xmlns:a="http://schemas.openxmlformats.org/drawingml/2006/main">
              <a:ext uri="{FF2B5EF4-FFF2-40B4-BE49-F238E27FC236}">
                <a16:creationId xmlns:a16="http://schemas.microsoft.com/office/drawing/2014/main" id="{EF1FFC14-917D-4944-9A40-D6E3459DE2AF}"/>
              </a:ext>
            </a:extLst>
          </p:cNvPr>
          <p:cNvSpPr>
            <a:spLocks xmlns:a="http://schemas.openxmlformats.org/drawingml/2006/main" noGrp="1"/>
          </p:cNvSpPr>
          <p:nvPr/>
        </p:nvSpPr>
        <p:spPr>
          <a:xfrm xmlns:a="http://schemas.openxmlformats.org/drawingml/2006/main">
            <a:off x="0" y="9677400"/>
            <a:ext cx="18288000" cy="609600"/>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pic>
        <p:nvPicPr>
          <p:cNvPr id="18" name="footer.ddb"/>
          <p:cNvPicPr>
            <a:picLocks xmlns:a="http://schemas.openxmlformats.org/drawingml/2006/main" noChangeAspect="1"/>
          </p:cNvPicPr>
          <p:nvPr/>
        </p:nvPicPr>
        <p:blipFill>
          <a:blip xmlns:r="http://schemas.openxmlformats.org/officeDocument/2006/relationships" xmlns:a="http://schemas.openxmlformats.org/drawingml/2006/main" r:embed="R5c1c32cd151945d5"/>
          <a:stretch xmlns:a="http://schemas.openxmlformats.org/drawingml/2006/main"/>
        </p:blipFill>
        <p:spPr>
          <a:xfrm xmlns:a="http://schemas.openxmlformats.org/drawingml/2006/main">
            <a:off x="382463" y="9848850"/>
            <a:ext cx="511425" cy="266700"/>
          </a:xfrm>
          <a:prstGeom xmlns:a="http://schemas.openxmlformats.org/drawingml/2006/main" prst="rect">
            <a:avLst/>
          </a:prstGeom>
        </p:spPr>
      </p:pic>
      <p:sp>
        <p:nvSpPr>
          <p:cNvPr id="8" name="footer.confidential">
            <a:extLst xmlns:a="http://schemas.openxmlformats.org/drawingml/2006/main">
              <a:ext uri="{FF2B5EF4-FFF2-40B4-BE49-F238E27FC236}">
                <a16:creationId xmlns:a16="http://schemas.microsoft.com/office/drawing/2014/main" id="{A129BBE1-7B26-4641-A195-36B81355108E}"/>
              </a:ext>
            </a:extLst>
          </p:cNvPr>
          <p:cNvSpPr>
            <a:spLocks xmlns:a="http://schemas.openxmlformats.org/drawingml/2006/main" noGrp="1"/>
          </p:cNvSpPr>
          <p:nvPr/>
        </p:nvSpPr>
        <p:spPr>
          <a:xfrm xmlns:a="http://schemas.openxmlformats.org/drawingml/2006/main">
            <a:off x="1123950" y="967740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BFC3E3"/>
                </a:solidFill>
                <a:latin typeface="Arial"/>
                <a:ea typeface="Arial"/>
                <a:cs typeface="Arial"/>
              </a:defRPr>
            </a:pPr>
            <a:r>
              <a:t>CONFIDENTIAL • PREPARED FOR ONEUTILITY BANK</a:t>
            </a:r>
          </a:p>
        </p:txBody>
      </p:sp>
      <p:sp>
        <p:nvSpPr>
          <p:cNvPr id="9" name="footer.title">
            <a:extLst xmlns:a="http://schemas.openxmlformats.org/drawingml/2006/main">
              <a:ext uri="{FF2B5EF4-FFF2-40B4-BE49-F238E27FC236}">
                <a16:creationId xmlns:a16="http://schemas.microsoft.com/office/drawing/2014/main" id="{75485527-9AEA-4547-981A-709D0DA08202}"/>
              </a:ext>
            </a:extLst>
          </p:cNvPr>
          <p:cNvSpPr>
            <a:spLocks xmlns:a="http://schemas.openxmlformats.org/drawingml/2006/main" noGrp="1"/>
          </p:cNvSpPr>
          <p:nvPr/>
        </p:nvSpPr>
        <p:spPr>
          <a:xfrm xmlns:a="http://schemas.openxmlformats.org/drawingml/2006/main">
            <a:off x="11582400" y="967740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1">
                <a:solidFill>
                  <a:srgbClr val="F3F2F2"/>
                </a:solidFill>
                <a:latin typeface="Arial"/>
                <a:ea typeface="Arial"/>
                <a:cs typeface="Arial"/>
              </a:defRPr>
            </a:pPr>
            <a:r>
              <a:t>1U 360 CAMPAIGN PROPOSAL</a:t>
            </a:r>
          </a:p>
        </p:txBody>
      </p:sp>
      <p:sp>
        <p:nvSpPr>
          <p:cNvPr id="10" name="footer.number.bg">
            <a:extLst xmlns:a="http://schemas.openxmlformats.org/drawingml/2006/main">
              <a:ext uri="{FF2B5EF4-FFF2-40B4-BE49-F238E27FC236}">
                <a16:creationId xmlns:a16="http://schemas.microsoft.com/office/drawing/2014/main" id="{B3761F7D-8338-478D-AFB2-B44EA5AA7E1A}"/>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solidFill xmlns:a="http://schemas.openxmlformats.org/drawingml/2006/main">
            <a:srgbClr val="201E1D"/>
          </a:solidFill>
          <a:ln xmlns:a="http://schemas.openxmlformats.org/drawingml/2006/main" w="0">
            <a:noFill/>
            <a:prstDash val="solid"/>
          </a:ln>
        </p:spPr>
      </p:sp>
      <p:sp>
        <p:nvSpPr>
          <p:cNvPr id="11" name="footer.number">
            <a:extLst xmlns:a="http://schemas.openxmlformats.org/drawingml/2006/main">
              <a:ext uri="{FF2B5EF4-FFF2-40B4-BE49-F238E27FC236}">
                <a16:creationId xmlns:a16="http://schemas.microsoft.com/office/drawing/2014/main" id="{CC62697E-3DCB-4431-BC62-D82935521D15}"/>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F3F2F2"/>
                </a:solidFill>
                <a:latin typeface="Arial"/>
                <a:ea typeface="Arial"/>
                <a:cs typeface="Arial"/>
              </a:defRPr>
            </a:pPr>
            <a:r>
              <a:t>1</a:t>
            </a:r>
          </a:p>
        </p:txBody>
      </p:sp>
    </p:spTree>
    <p:extLst>
      <p:ext uri="{BB962C8B-B14F-4D97-AF65-F5344CB8AC3E}">
        <p14:creationId xmlns:p14="http://schemas.microsoft.com/office/powerpoint/2010/main" val="17990451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slide.bg">
            <a:extLst xmlns:a="http://schemas.openxmlformats.org/drawingml/2006/main">
              <a:ext uri="{FF2B5EF4-FFF2-40B4-BE49-F238E27FC236}">
                <a16:creationId xmlns:a16="http://schemas.microsoft.com/office/drawing/2014/main" id="{580F0FDA-2820-4467-BAB3-1A403801A9A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3F2F2"/>
          </a:solidFill>
          <a:ln xmlns:a="http://schemas.openxmlformats.org/drawingml/2006/main" w="0">
            <a:noFill/>
            <a:prstDash val="solid"/>
          </a:ln>
        </p:spPr>
      </p:sp>
      <p:pic>
        <p:nvPicPr>
          <p:cNvPr id="18" name="business.photo"/>
          <p:cNvPicPr>
            <a:picLocks xmlns:a="http://schemas.openxmlformats.org/drawingml/2006/main" noChangeAspect="1"/>
          </p:cNvPicPr>
          <p:nvPr/>
        </p:nvPicPr>
        <p:blipFill>
          <a:blip xmlns:r="http://schemas.openxmlformats.org/officeDocument/2006/relationships" xmlns:a="http://schemas.openxmlformats.org/drawingml/2006/main" r:embed="R2056443379ee4b11"/>
          <a:srcRect xmlns:a="http://schemas.openxmlformats.org/drawingml/2006/main" l="2756" t="0" r="2756" b="0"/>
          <a:stretch xmlns:a="http://schemas.openxmlformats.org/drawingml/2006/main">
            <a:fillRect l="0" t="0" r="0" b="0"/>
          </a:stretch>
        </p:blipFill>
        <p:spPr>
          <a:xfrm xmlns:a="http://schemas.openxmlformats.org/drawingml/2006/main">
            <a:off x="9144000" y="0"/>
            <a:ext cx="9144000" cy="9677400"/>
          </a:xfrm>
          <a:prstGeom xmlns:a="http://schemas.openxmlformats.org/drawingml/2006/main" prst="rect">
            <a:avLst/>
          </a:prstGeom>
        </p:spPr>
      </p:pic>
      <p:sp>
        <p:nvSpPr>
          <p:cNvPr id="3" name="business.h2">
            <a:extLst xmlns:a="http://schemas.openxmlformats.org/drawingml/2006/main">
              <a:ext uri="{FF2B5EF4-FFF2-40B4-BE49-F238E27FC236}">
                <a16:creationId xmlns:a16="http://schemas.microsoft.com/office/drawing/2014/main" id="{4E2FFF5D-5C32-4F4A-B4ED-7907A30564A1}"/>
              </a:ext>
            </a:extLst>
          </p:cNvPr>
          <p:cNvSpPr>
            <a:spLocks xmlns:a="http://schemas.openxmlformats.org/drawingml/2006/main" noGrp="1"/>
          </p:cNvSpPr>
          <p:nvPr/>
        </p:nvSpPr>
        <p:spPr>
          <a:xfrm xmlns:a="http://schemas.openxmlformats.org/drawingml/2006/main">
            <a:off x="1143000" y="923925"/>
            <a:ext cx="7239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201E1D"/>
                </a:solidFill>
                <a:latin typeface="Arial"/>
                <a:ea typeface="Arial"/>
                <a:cs typeface="Arial"/>
              </a:defRPr>
            </a:pPr>
            <a:r>
              <a:t>Our understanding of the business</a:t>
            </a:r>
          </a:p>
        </p:txBody>
      </p:sp>
      <p:sp>
        <p:nvSpPr>
          <p:cNvPr id="4" name="business.h3">
            <a:extLst xmlns:a="http://schemas.openxmlformats.org/drawingml/2006/main">
              <a:ext uri="{FF2B5EF4-FFF2-40B4-BE49-F238E27FC236}">
                <a16:creationId xmlns:a16="http://schemas.microsoft.com/office/drawing/2014/main" id="{B17C625F-8844-437F-B622-A662172A9BED}"/>
              </a:ext>
            </a:extLst>
          </p:cNvPr>
          <p:cNvSpPr>
            <a:spLocks xmlns:a="http://schemas.openxmlformats.org/drawingml/2006/main" noGrp="1"/>
          </p:cNvSpPr>
          <p:nvPr/>
        </p:nvSpPr>
        <p:spPr>
          <a:xfrm xmlns:a="http://schemas.openxmlformats.org/drawingml/2006/main">
            <a:off x="1143000" y="2362200"/>
            <a:ext cx="7239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0">
                <a:solidFill>
                  <a:srgbClr val="5B5959"/>
                </a:solidFill>
                <a:latin typeface="Arial"/>
                <a:ea typeface="Arial"/>
                <a:cs typeface="Arial"/>
              </a:defRPr>
            </a:pPr>
            <a:r>
              <a:t>1U intends to serve both sides of the utility economy.</a:t>
            </a:r>
          </a:p>
        </p:txBody>
      </p:sp>
      <p:sp>
        <p:nvSpPr>
          <p:cNvPr id="5" name="business.body">
            <a:extLst xmlns:a="http://schemas.openxmlformats.org/drawingml/2006/main">
              <a:ext uri="{FF2B5EF4-FFF2-40B4-BE49-F238E27FC236}">
                <a16:creationId xmlns:a16="http://schemas.microsoft.com/office/drawing/2014/main" id="{206F60D3-9C60-419E-B420-8444F0003A4B}"/>
              </a:ext>
            </a:extLst>
          </p:cNvPr>
          <p:cNvSpPr>
            <a:spLocks xmlns:a="http://schemas.openxmlformats.org/drawingml/2006/main" noGrp="1"/>
          </p:cNvSpPr>
          <p:nvPr/>
        </p:nvSpPr>
        <p:spPr>
          <a:xfrm xmlns:a="http://schemas.openxmlformats.org/drawingml/2006/main">
            <a:off x="1143000" y="3467100"/>
            <a:ext cx="72390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E4D4C"/>
                </a:solidFill>
                <a:latin typeface="Arial"/>
                <a:ea typeface="Arial"/>
                <a:cs typeface="Arial"/>
              </a:defRPr>
            </a:pPr>
            <a:r>
              <a:t>1Utility Bank is introducing Utility Banking, a banking proposition built around the essential services people and businesses depend on, and the organisations and infrastructure that provide them. At the consumer level, its defining product is the Utility Account: an account linked to a customer’s phone number that allows money sent by bank transfer to become airtime, data or other supported utility payments. Around this proposition, 1U intends to provide a broader suite of personal and business banking services, including savings, investments and intelligent security controls. On the institutional side, the bank also intends to finance utility providers, assets, infrastructure and renewable-energy projects.</a:t>
            </a:r>
          </a:p>
        </p:txBody>
      </p:sp>
      <p:sp>
        <p:nvSpPr>
          <p:cNvPr id="6" name="rule">
            <a:extLst xmlns:a="http://schemas.openxmlformats.org/drawingml/2006/main">
              <a:ext uri="{FF2B5EF4-FFF2-40B4-BE49-F238E27FC236}">
                <a16:creationId xmlns:a16="http://schemas.microsoft.com/office/drawing/2014/main" id="{3B7D5C46-37A5-42E1-945F-041EDE00B9A2}"/>
              </a:ext>
            </a:extLst>
          </p:cNvPr>
          <p:cNvSpPr>
            <a:spLocks xmlns:a="http://schemas.openxmlformats.org/drawingml/2006/main" noGrp="1"/>
          </p:cNvSpPr>
          <p:nvPr/>
        </p:nvSpPr>
        <p:spPr>
          <a:xfrm xmlns:a="http://schemas.openxmlformats.org/drawingml/2006/main">
            <a:off x="1143000" y="7610475"/>
            <a:ext cx="7239000" cy="28575"/>
          </a:xfrm>
          <a:prstGeom xmlns:a="http://schemas.openxmlformats.org/drawingml/2006/main" prst="rect">
            <a:avLst/>
          </a:prstGeom>
          <a:solidFill xmlns:a="http://schemas.openxmlformats.org/drawingml/2006/main">
            <a:srgbClr val="201E1D"/>
          </a:solidFill>
          <a:ln xmlns:a="http://schemas.openxmlformats.org/drawingml/2006/main" w="0">
            <a:noFill/>
            <a:prstDash val="solid"/>
          </a:ln>
        </p:spPr>
      </p:sp>
      <p:sp>
        <p:nvSpPr>
          <p:cNvPr id="7" name="business.side1.label">
            <a:extLst xmlns:a="http://schemas.openxmlformats.org/drawingml/2006/main">
              <a:ext uri="{FF2B5EF4-FFF2-40B4-BE49-F238E27FC236}">
                <a16:creationId xmlns:a16="http://schemas.microsoft.com/office/drawing/2014/main" id="{E02D9DED-7D2C-4DED-B33A-3BD405BD8396}"/>
              </a:ext>
            </a:extLst>
          </p:cNvPr>
          <p:cNvSpPr>
            <a:spLocks xmlns:a="http://schemas.openxmlformats.org/drawingml/2006/main" noGrp="1"/>
          </p:cNvSpPr>
          <p:nvPr/>
        </p:nvSpPr>
        <p:spPr>
          <a:xfrm xmlns:a="http://schemas.openxmlformats.org/drawingml/2006/main">
            <a:off x="1143000" y="7829550"/>
            <a:ext cx="3467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237B4"/>
                </a:solidFill>
                <a:latin typeface="Arial"/>
                <a:ea typeface="Arial"/>
                <a:cs typeface="Arial"/>
              </a:defRPr>
            </a:pPr>
            <a:r>
              <a:t>SIDE ONE</a:t>
            </a:r>
          </a:p>
        </p:txBody>
      </p:sp>
      <p:sp>
        <p:nvSpPr>
          <p:cNvPr id="8" name="business.side1.body">
            <a:extLst xmlns:a="http://schemas.openxmlformats.org/drawingml/2006/main">
              <a:ext uri="{FF2B5EF4-FFF2-40B4-BE49-F238E27FC236}">
                <a16:creationId xmlns:a16="http://schemas.microsoft.com/office/drawing/2014/main" id="{BC538349-46AE-4D45-8A73-B807EC46ABDE}"/>
              </a:ext>
            </a:extLst>
          </p:cNvPr>
          <p:cNvSpPr>
            <a:spLocks xmlns:a="http://schemas.openxmlformats.org/drawingml/2006/main" noGrp="1"/>
          </p:cNvSpPr>
          <p:nvPr/>
        </p:nvSpPr>
        <p:spPr>
          <a:xfrm xmlns:a="http://schemas.openxmlformats.org/drawingml/2006/main">
            <a:off x="1143000" y="8115300"/>
            <a:ext cx="3467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201E1D"/>
                </a:solidFill>
                <a:latin typeface="Arial"/>
                <a:ea typeface="Arial"/>
                <a:cs typeface="Arial"/>
              </a:defRPr>
            </a:pPr>
            <a:r>
              <a:t>The people and businesses that depend on essential services.</a:t>
            </a:r>
          </a:p>
        </p:txBody>
      </p:sp>
      <p:sp>
        <p:nvSpPr>
          <p:cNvPr id="9" name="business.side2.label">
            <a:extLst xmlns:a="http://schemas.openxmlformats.org/drawingml/2006/main">
              <a:ext uri="{FF2B5EF4-FFF2-40B4-BE49-F238E27FC236}">
                <a16:creationId xmlns:a16="http://schemas.microsoft.com/office/drawing/2014/main" id="{B9F54899-DD01-4AB6-9A86-94E07BD84C09}"/>
              </a:ext>
            </a:extLst>
          </p:cNvPr>
          <p:cNvSpPr>
            <a:spLocks xmlns:a="http://schemas.openxmlformats.org/drawingml/2006/main" noGrp="1"/>
          </p:cNvSpPr>
          <p:nvPr/>
        </p:nvSpPr>
        <p:spPr>
          <a:xfrm xmlns:a="http://schemas.openxmlformats.org/drawingml/2006/main">
            <a:off x="4914900" y="7829550"/>
            <a:ext cx="3467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237B4"/>
                </a:solidFill>
                <a:latin typeface="Arial"/>
                <a:ea typeface="Arial"/>
                <a:cs typeface="Arial"/>
              </a:defRPr>
            </a:pPr>
            <a:r>
              <a:t>SIDE TWO</a:t>
            </a:r>
          </a:p>
        </p:txBody>
      </p:sp>
      <p:sp>
        <p:nvSpPr>
          <p:cNvPr id="10" name="business.side2.body">
            <a:extLst xmlns:a="http://schemas.openxmlformats.org/drawingml/2006/main">
              <a:ext uri="{FF2B5EF4-FFF2-40B4-BE49-F238E27FC236}">
                <a16:creationId xmlns:a16="http://schemas.microsoft.com/office/drawing/2014/main" id="{B85D6AA1-F92D-4752-A705-B2FE0FFE45AA}"/>
              </a:ext>
            </a:extLst>
          </p:cNvPr>
          <p:cNvSpPr>
            <a:spLocks xmlns:a="http://schemas.openxmlformats.org/drawingml/2006/main" noGrp="1"/>
          </p:cNvSpPr>
          <p:nvPr/>
        </p:nvSpPr>
        <p:spPr>
          <a:xfrm xmlns:a="http://schemas.openxmlformats.org/drawingml/2006/main">
            <a:off x="4914900" y="8115300"/>
            <a:ext cx="3467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201E1D"/>
                </a:solidFill>
                <a:latin typeface="Arial"/>
                <a:ea typeface="Arial"/>
                <a:cs typeface="Arial"/>
              </a:defRPr>
            </a:pPr>
            <a:r>
              <a:t>The organisations and infrastructure that provide them.</a:t>
            </a:r>
          </a:p>
        </p:txBody>
      </p:sp>
      <p:sp>
        <p:nvSpPr>
          <p:cNvPr id="11" name="footer.bar">
            <a:extLst xmlns:a="http://schemas.openxmlformats.org/drawingml/2006/main">
              <a:ext uri="{FF2B5EF4-FFF2-40B4-BE49-F238E27FC236}">
                <a16:creationId xmlns:a16="http://schemas.microsoft.com/office/drawing/2014/main" id="{82F31C53-CCB5-48FC-85AD-CEA58F58DD9B}"/>
              </a:ext>
            </a:extLst>
          </p:cNvPr>
          <p:cNvSpPr>
            <a:spLocks xmlns:a="http://schemas.openxmlformats.org/drawingml/2006/main" noGrp="1"/>
          </p:cNvSpPr>
          <p:nvPr/>
        </p:nvSpPr>
        <p:spPr>
          <a:xfrm xmlns:a="http://schemas.openxmlformats.org/drawingml/2006/main">
            <a:off x="0" y="9677400"/>
            <a:ext cx="18288000" cy="609600"/>
          </a:xfrm>
          <a:prstGeom xmlns:a="http://schemas.openxmlformats.org/drawingml/2006/main" prst="rect">
            <a:avLst/>
          </a:prstGeom>
          <a:solidFill xmlns:a="http://schemas.openxmlformats.org/drawingml/2006/main">
            <a:srgbClr val="F3F2F2"/>
          </a:solidFill>
          <a:ln xmlns:a="http://schemas.openxmlformats.org/drawingml/2006/main" w="0">
            <a:noFill/>
            <a:prstDash val="solid"/>
          </a:ln>
        </p:spPr>
      </p:sp>
      <p:pic>
        <p:nvPicPr>
          <p:cNvPr id="28" name="footer.ddb"/>
          <p:cNvPicPr>
            <a:picLocks xmlns:a="http://schemas.openxmlformats.org/drawingml/2006/main" noChangeAspect="1"/>
          </p:cNvPicPr>
          <p:nvPr/>
        </p:nvPicPr>
        <p:blipFill>
          <a:blip xmlns:r="http://schemas.openxmlformats.org/officeDocument/2006/relationships" xmlns:a="http://schemas.openxmlformats.org/drawingml/2006/main" r:embed="R69ba645bca414b9c"/>
          <a:stretch xmlns:a="http://schemas.openxmlformats.org/drawingml/2006/main"/>
        </p:blipFill>
        <p:spPr>
          <a:xfrm xmlns:a="http://schemas.openxmlformats.org/drawingml/2006/main">
            <a:off x="382463" y="9848850"/>
            <a:ext cx="511425" cy="266700"/>
          </a:xfrm>
          <a:prstGeom xmlns:a="http://schemas.openxmlformats.org/drawingml/2006/main" prst="rect">
            <a:avLst/>
          </a:prstGeom>
        </p:spPr>
      </p:pic>
      <p:sp>
        <p:nvSpPr>
          <p:cNvPr id="13" name="footer.confidential">
            <a:extLst xmlns:a="http://schemas.openxmlformats.org/drawingml/2006/main">
              <a:ext uri="{FF2B5EF4-FFF2-40B4-BE49-F238E27FC236}">
                <a16:creationId xmlns:a16="http://schemas.microsoft.com/office/drawing/2014/main" id="{99B48305-C486-47C7-AED9-A16B0C46A446}"/>
              </a:ext>
            </a:extLst>
          </p:cNvPr>
          <p:cNvSpPr>
            <a:spLocks xmlns:a="http://schemas.openxmlformats.org/drawingml/2006/main" noGrp="1"/>
          </p:cNvSpPr>
          <p:nvPr/>
        </p:nvSpPr>
        <p:spPr>
          <a:xfrm xmlns:a="http://schemas.openxmlformats.org/drawingml/2006/main">
            <a:off x="1123950" y="967740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555352"/>
                </a:solidFill>
                <a:latin typeface="Arial"/>
                <a:ea typeface="Arial"/>
                <a:cs typeface="Arial"/>
              </a:defRPr>
            </a:pPr>
            <a:r>
              <a:t>CONFIDENTIAL • PREPARED FOR ONEUTILITY BANK</a:t>
            </a:r>
          </a:p>
        </p:txBody>
      </p:sp>
      <p:sp>
        <p:nvSpPr>
          <p:cNvPr id="14" name="footer.title">
            <a:extLst xmlns:a="http://schemas.openxmlformats.org/drawingml/2006/main">
              <a:ext uri="{FF2B5EF4-FFF2-40B4-BE49-F238E27FC236}">
                <a16:creationId xmlns:a16="http://schemas.microsoft.com/office/drawing/2014/main" id="{0D1279D3-B273-4844-A56F-9EFA12798E16}"/>
              </a:ext>
            </a:extLst>
          </p:cNvPr>
          <p:cNvSpPr>
            <a:spLocks xmlns:a="http://schemas.openxmlformats.org/drawingml/2006/main" noGrp="1"/>
          </p:cNvSpPr>
          <p:nvPr/>
        </p:nvSpPr>
        <p:spPr>
          <a:xfrm xmlns:a="http://schemas.openxmlformats.org/drawingml/2006/main">
            <a:off x="11582400" y="967740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1">
                <a:solidFill>
                  <a:srgbClr val="201E1D"/>
                </a:solidFill>
                <a:latin typeface="Arial"/>
                <a:ea typeface="Arial"/>
                <a:cs typeface="Arial"/>
              </a:defRPr>
            </a:pPr>
            <a:r>
              <a:t>1U 360 CAMPAIGN PROPOSAL</a:t>
            </a:r>
          </a:p>
        </p:txBody>
      </p:sp>
      <p:sp>
        <p:nvSpPr>
          <p:cNvPr id="15" name="footer.number.bg">
            <a:extLst xmlns:a="http://schemas.openxmlformats.org/drawingml/2006/main">
              <a:ext uri="{FF2B5EF4-FFF2-40B4-BE49-F238E27FC236}">
                <a16:creationId xmlns:a16="http://schemas.microsoft.com/office/drawing/2014/main" id="{44241B74-AB9B-4A59-A964-E5712766898D}"/>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sp>
        <p:nvSpPr>
          <p:cNvPr id="16" name="footer.number">
            <a:extLst xmlns:a="http://schemas.openxmlformats.org/drawingml/2006/main">
              <a:ext uri="{FF2B5EF4-FFF2-40B4-BE49-F238E27FC236}">
                <a16:creationId xmlns:a16="http://schemas.microsoft.com/office/drawing/2014/main" id="{4805DC80-960C-4BDE-9D57-48425E6A21CF}"/>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F3F2F2"/>
                </a:solidFill>
                <a:latin typeface="Arial"/>
                <a:ea typeface="Arial"/>
                <a:cs typeface="Arial"/>
              </a:defRPr>
            </a:pPr>
            <a:r>
              <a:t>2</a:t>
            </a:r>
          </a:p>
        </p:txBody>
      </p:sp>
    </p:spTree>
    <p:extLst>
      <p:ext uri="{BB962C8B-B14F-4D97-AF65-F5344CB8AC3E}">
        <p14:creationId xmlns:p14="http://schemas.microsoft.com/office/powerpoint/2010/main" val="18900598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6" name="slide.bg">
            <a:extLst xmlns:a="http://schemas.openxmlformats.org/drawingml/2006/main">
              <a:ext uri="{FF2B5EF4-FFF2-40B4-BE49-F238E27FC236}">
                <a16:creationId xmlns:a16="http://schemas.microsoft.com/office/drawing/2014/main" id="{28ED986C-5426-40E7-9EEC-6B38B4BC7A9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201E1D"/>
          </a:solidFill>
          <a:ln xmlns:a="http://schemas.openxmlformats.org/drawingml/2006/main" w="0">
            <a:noFill/>
            <a:prstDash val="solid"/>
          </a:ln>
        </p:spPr>
      </p:sp>
      <p:sp>
        <p:nvSpPr>
          <p:cNvPr id="2" name="challenge.h2">
            <a:extLst xmlns:a="http://schemas.openxmlformats.org/drawingml/2006/main">
              <a:ext uri="{FF2B5EF4-FFF2-40B4-BE49-F238E27FC236}">
                <a16:creationId xmlns:a16="http://schemas.microsoft.com/office/drawing/2014/main" id="{1C962F24-7138-42FD-8510-F39C3DB1B08E}"/>
              </a:ext>
            </a:extLst>
          </p:cNvPr>
          <p:cNvSpPr>
            <a:spLocks xmlns:a="http://schemas.openxmlformats.org/drawingml/2006/main" noGrp="1"/>
          </p:cNvSpPr>
          <p:nvPr/>
        </p:nvSpPr>
        <p:spPr>
          <a:xfrm xmlns:a="http://schemas.openxmlformats.org/drawingml/2006/main">
            <a:off x="1143000" y="1895475"/>
            <a:ext cx="15430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F3F2F2"/>
                </a:solidFill>
                <a:latin typeface="Arial"/>
                <a:ea typeface="Arial"/>
                <a:cs typeface="Arial"/>
              </a:defRPr>
            </a:pPr>
            <a:r>
              <a:t>Our understanding of the challenge</a:t>
            </a:r>
          </a:p>
        </p:txBody>
      </p:sp>
      <p:sp>
        <p:nvSpPr>
          <p:cNvPr id="3" name="challenge.h3">
            <a:extLst xmlns:a="http://schemas.openxmlformats.org/drawingml/2006/main">
              <a:ext uri="{FF2B5EF4-FFF2-40B4-BE49-F238E27FC236}">
                <a16:creationId xmlns:a16="http://schemas.microsoft.com/office/drawing/2014/main" id="{69DA2716-5FF1-48F5-86A3-BA0F4133412C}"/>
              </a:ext>
            </a:extLst>
          </p:cNvPr>
          <p:cNvSpPr>
            <a:spLocks xmlns:a="http://schemas.openxmlformats.org/drawingml/2006/main" noGrp="1"/>
          </p:cNvSpPr>
          <p:nvPr/>
        </p:nvSpPr>
        <p:spPr>
          <a:xfrm xmlns:a="http://schemas.openxmlformats.org/drawingml/2006/main">
            <a:off x="1143000" y="2667000"/>
            <a:ext cx="142875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0">
                <a:solidFill>
                  <a:srgbClr val="72B7FF"/>
                </a:solidFill>
                <a:latin typeface="Arial"/>
                <a:ea typeface="Arial"/>
                <a:cs typeface="Arial"/>
              </a:defRPr>
            </a:pPr>
            <a:r>
              <a:t>1U must introduce a new category and earn permission to own it.</a:t>
            </a:r>
          </a:p>
        </p:txBody>
      </p:sp>
      <p:sp>
        <p:nvSpPr>
          <p:cNvPr id="4" name="challenge.body">
            <a:extLst xmlns:a="http://schemas.openxmlformats.org/drawingml/2006/main">
              <a:ext uri="{FF2B5EF4-FFF2-40B4-BE49-F238E27FC236}">
                <a16:creationId xmlns:a16="http://schemas.microsoft.com/office/drawing/2014/main" id="{1190B859-3BAE-4187-964D-5EB07B1C82F1}"/>
              </a:ext>
            </a:extLst>
          </p:cNvPr>
          <p:cNvSpPr>
            <a:spLocks xmlns:a="http://schemas.openxmlformats.org/drawingml/2006/main" noGrp="1"/>
          </p:cNvSpPr>
          <p:nvPr/>
        </p:nvSpPr>
        <p:spPr>
          <a:xfrm xmlns:a="http://schemas.openxmlformats.org/drawingml/2006/main">
            <a:off x="1143000" y="3324225"/>
            <a:ext cx="1428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950" b="0">
                <a:solidFill>
                  <a:srgbClr val="C9C8C7"/>
                </a:solidFill>
                <a:latin typeface="Arial"/>
                <a:ea typeface="Arial"/>
                <a:cs typeface="Arial"/>
              </a:defRPr>
            </a:pPr>
            <a:r>
              <a:t>The campaign must do more than launch another digital financial product. It must help Nigerians understand what Utility Banking is, why it matters and why they should trust 1U to deliver it. That breaks down into four connected communication tasks.</a:t>
            </a:r>
          </a:p>
        </p:txBody>
      </p:sp>
      <p:sp>
        <p:nvSpPr>
          <p:cNvPr id="5" name="rule">
            <a:extLst xmlns:a="http://schemas.openxmlformats.org/drawingml/2006/main">
              <a:ext uri="{FF2B5EF4-FFF2-40B4-BE49-F238E27FC236}">
                <a16:creationId xmlns:a16="http://schemas.microsoft.com/office/drawing/2014/main" id="{49BCB57F-53E2-46F8-B746-112F50E74F1C}"/>
              </a:ext>
            </a:extLst>
          </p:cNvPr>
          <p:cNvSpPr>
            <a:spLocks xmlns:a="http://schemas.openxmlformats.org/drawingml/2006/main" noGrp="1"/>
          </p:cNvSpPr>
          <p:nvPr/>
        </p:nvSpPr>
        <p:spPr>
          <a:xfrm xmlns:a="http://schemas.openxmlformats.org/drawingml/2006/main">
            <a:off x="1143000" y="4752975"/>
            <a:ext cx="16002000" cy="28575"/>
          </a:xfrm>
          <a:prstGeom xmlns:a="http://schemas.openxmlformats.org/drawingml/2006/main" prst="rect">
            <a:avLst/>
          </a:prstGeom>
          <a:solidFill xmlns:a="http://schemas.openxmlformats.org/drawingml/2006/main">
            <a:srgbClr val="F3F2F2"/>
          </a:solidFill>
          <a:ln xmlns:a="http://schemas.openxmlformats.org/drawingml/2006/main" w="0">
            <a:noFill/>
            <a:prstDash val="solid"/>
          </a:ln>
        </p:spPr>
      </p:sp>
      <p:pic>
        <p:nvPicPr>
          <p:cNvPr id="31" name="challenge.explain.icon"/>
          <p:cNvPicPr>
            <a:picLocks xmlns:a="http://schemas.openxmlformats.org/drawingml/2006/main" noChangeAspect="1"/>
          </p:cNvPicPr>
          <p:nvPr/>
        </p:nvPicPr>
        <p:blipFill>
          <a:blip xmlns:r="http://schemas.openxmlformats.org/officeDocument/2006/relationships" xmlns:a="http://schemas.openxmlformats.org/drawingml/2006/main" r:embed="Rfb6098e303934cd6">
            <a:extLst>
              <a:ext uri="{96DAC541-7B7A-43D3-8B79-37D633B846F1}">
                <asvg:svgBlip xmlns:asvg="http://schemas.microsoft.com/office/drawing/2016/SVG/main" r:embed="R252118803dbd4dda"/>
              </a:ext>
            </a:extLst>
          </a:blip>
          <a:stretch xmlns:a="http://schemas.openxmlformats.org/drawingml/2006/main"/>
        </p:blipFill>
        <p:spPr>
          <a:xfrm xmlns:a="http://schemas.openxmlformats.org/drawingml/2006/main">
            <a:off x="1143000" y="5124450"/>
            <a:ext cx="552450" cy="552450"/>
          </a:xfrm>
          <a:prstGeom xmlns:a="http://schemas.openxmlformats.org/drawingml/2006/main" prst="rect">
            <a:avLst/>
          </a:prstGeom>
        </p:spPr>
      </p:pic>
      <p:sp>
        <p:nvSpPr>
          <p:cNvPr id="7" name="challenge.explain.title">
            <a:extLst xmlns:a="http://schemas.openxmlformats.org/drawingml/2006/main">
              <a:ext uri="{FF2B5EF4-FFF2-40B4-BE49-F238E27FC236}">
                <a16:creationId xmlns:a16="http://schemas.microsoft.com/office/drawing/2014/main" id="{263FFAA0-9DEA-4D26-9E77-359210BC1643}"/>
              </a:ext>
            </a:extLst>
          </p:cNvPr>
          <p:cNvSpPr>
            <a:spLocks xmlns:a="http://schemas.openxmlformats.org/drawingml/2006/main" noGrp="1"/>
          </p:cNvSpPr>
          <p:nvPr/>
        </p:nvSpPr>
        <p:spPr>
          <a:xfrm xmlns:a="http://schemas.openxmlformats.org/drawingml/2006/main">
            <a:off x="1143000" y="5791200"/>
            <a:ext cx="36861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3F2F2"/>
                </a:solidFill>
                <a:latin typeface="Arial"/>
                <a:ea typeface="Arial"/>
                <a:cs typeface="Arial"/>
              </a:defRPr>
            </a:pPr>
            <a:r>
              <a:t>Explain</a:t>
            </a:r>
          </a:p>
        </p:txBody>
      </p:sp>
      <p:sp>
        <p:nvSpPr>
          <p:cNvPr id="8" name="challenge.explain.body">
            <a:extLst xmlns:a="http://schemas.openxmlformats.org/drawingml/2006/main">
              <a:ext uri="{FF2B5EF4-FFF2-40B4-BE49-F238E27FC236}">
                <a16:creationId xmlns:a16="http://schemas.microsoft.com/office/drawing/2014/main" id="{FEED734E-3F18-4EF3-9CD4-DF1EFDBAF89B}"/>
              </a:ext>
            </a:extLst>
          </p:cNvPr>
          <p:cNvSpPr>
            <a:spLocks xmlns:a="http://schemas.openxmlformats.org/drawingml/2006/main" noGrp="1"/>
          </p:cNvSpPr>
          <p:nvPr/>
        </p:nvSpPr>
        <p:spPr>
          <a:xfrm xmlns:a="http://schemas.openxmlformats.org/drawingml/2006/main">
            <a:off x="1143000" y="6248400"/>
            <a:ext cx="36861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BEBDBD"/>
                </a:solidFill>
                <a:latin typeface="Arial"/>
                <a:ea typeface="Arial"/>
                <a:cs typeface="Arial"/>
              </a:defRPr>
            </a:pPr>
            <a:r>
              <a:t>Make Utility Banking and the Utility Account immediately understandable.</a:t>
            </a:r>
          </a:p>
        </p:txBody>
      </p:sp>
      <p:pic>
        <p:nvPicPr>
          <p:cNvPr id="34" name="challenge.differentiate.icon"/>
          <p:cNvPicPr>
            <a:picLocks xmlns:a="http://schemas.openxmlformats.org/drawingml/2006/main" noChangeAspect="1"/>
          </p:cNvPicPr>
          <p:nvPr/>
        </p:nvPicPr>
        <p:blipFill>
          <a:blip xmlns:r="http://schemas.openxmlformats.org/officeDocument/2006/relationships" xmlns:a="http://schemas.openxmlformats.org/drawingml/2006/main" r:embed="R4fa03df423804a04">
            <a:extLst>
              <a:ext uri="{96DAC541-7B7A-43D3-8B79-37D633B846F1}">
                <asvg:svgBlip xmlns:asvg="http://schemas.microsoft.com/office/drawing/2016/SVG/main" r:embed="R2e66e8a9b81a434a"/>
              </a:ext>
            </a:extLst>
          </a:blip>
          <a:stretch xmlns:a="http://schemas.openxmlformats.org/drawingml/2006/main"/>
        </p:blipFill>
        <p:spPr>
          <a:xfrm xmlns:a="http://schemas.openxmlformats.org/drawingml/2006/main">
            <a:off x="5248275" y="5124450"/>
            <a:ext cx="552450" cy="552450"/>
          </a:xfrm>
          <a:prstGeom xmlns:a="http://schemas.openxmlformats.org/drawingml/2006/main" prst="rect">
            <a:avLst/>
          </a:prstGeom>
        </p:spPr>
      </p:pic>
      <p:sp>
        <p:nvSpPr>
          <p:cNvPr id="10" name="challenge.differentiate.title">
            <a:extLst xmlns:a="http://schemas.openxmlformats.org/drawingml/2006/main">
              <a:ext uri="{FF2B5EF4-FFF2-40B4-BE49-F238E27FC236}">
                <a16:creationId xmlns:a16="http://schemas.microsoft.com/office/drawing/2014/main" id="{1673F209-D52B-4FB9-A578-2B37B0E671A6}"/>
              </a:ext>
            </a:extLst>
          </p:cNvPr>
          <p:cNvSpPr>
            <a:spLocks xmlns:a="http://schemas.openxmlformats.org/drawingml/2006/main" noGrp="1"/>
          </p:cNvSpPr>
          <p:nvPr/>
        </p:nvSpPr>
        <p:spPr>
          <a:xfrm xmlns:a="http://schemas.openxmlformats.org/drawingml/2006/main">
            <a:off x="5248275" y="5791200"/>
            <a:ext cx="36861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3F2F2"/>
                </a:solidFill>
                <a:latin typeface="Arial"/>
                <a:ea typeface="Arial"/>
                <a:cs typeface="Arial"/>
              </a:defRPr>
            </a:pPr>
            <a:r>
              <a:t>Differentiate</a:t>
            </a:r>
          </a:p>
        </p:txBody>
      </p:sp>
      <p:sp>
        <p:nvSpPr>
          <p:cNvPr id="11" name="challenge.differentiate.body">
            <a:extLst xmlns:a="http://schemas.openxmlformats.org/drawingml/2006/main">
              <a:ext uri="{FF2B5EF4-FFF2-40B4-BE49-F238E27FC236}">
                <a16:creationId xmlns:a16="http://schemas.microsoft.com/office/drawing/2014/main" id="{B85C4C9B-FDE7-4B9A-B5DC-7BEFDAC2AF72}"/>
              </a:ext>
            </a:extLst>
          </p:cNvPr>
          <p:cNvSpPr>
            <a:spLocks xmlns:a="http://schemas.openxmlformats.org/drawingml/2006/main" noGrp="1"/>
          </p:cNvSpPr>
          <p:nvPr/>
        </p:nvSpPr>
        <p:spPr>
          <a:xfrm xmlns:a="http://schemas.openxmlformats.org/drawingml/2006/main">
            <a:off x="5248275" y="6248400"/>
            <a:ext cx="36861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BEBDBD"/>
                </a:solidFill>
                <a:latin typeface="Arial"/>
                <a:ea typeface="Arial"/>
                <a:cs typeface="Arial"/>
              </a:defRPr>
            </a:pPr>
            <a:r>
              <a:t>Establish 1U as neither another fintech nor another traditional bank.</a:t>
            </a:r>
          </a:p>
        </p:txBody>
      </p:sp>
      <p:pic>
        <p:nvPicPr>
          <p:cNvPr id="37" name="challenge.reassure.icon"/>
          <p:cNvPicPr>
            <a:picLocks xmlns:a="http://schemas.openxmlformats.org/drawingml/2006/main" noChangeAspect="1"/>
          </p:cNvPicPr>
          <p:nvPr/>
        </p:nvPicPr>
        <p:blipFill>
          <a:blip xmlns:r="http://schemas.openxmlformats.org/officeDocument/2006/relationships" xmlns:a="http://schemas.openxmlformats.org/drawingml/2006/main" r:embed="R614949e7f8e74f95">
            <a:extLst>
              <a:ext uri="{96DAC541-7B7A-43D3-8B79-37D633B846F1}">
                <asvg:svgBlip xmlns:asvg="http://schemas.microsoft.com/office/drawing/2016/SVG/main" r:embed="R3e3231423f5b4c82"/>
              </a:ext>
            </a:extLst>
          </a:blip>
          <a:stretch xmlns:a="http://schemas.openxmlformats.org/drawingml/2006/main"/>
        </p:blipFill>
        <p:spPr>
          <a:xfrm xmlns:a="http://schemas.openxmlformats.org/drawingml/2006/main">
            <a:off x="9353550" y="5124450"/>
            <a:ext cx="552450" cy="552450"/>
          </a:xfrm>
          <a:prstGeom xmlns:a="http://schemas.openxmlformats.org/drawingml/2006/main" prst="rect">
            <a:avLst/>
          </a:prstGeom>
        </p:spPr>
      </p:pic>
      <p:sp>
        <p:nvSpPr>
          <p:cNvPr id="13" name="challenge.reassure.title">
            <a:extLst xmlns:a="http://schemas.openxmlformats.org/drawingml/2006/main">
              <a:ext uri="{FF2B5EF4-FFF2-40B4-BE49-F238E27FC236}">
                <a16:creationId xmlns:a16="http://schemas.microsoft.com/office/drawing/2014/main" id="{42C860BE-22B1-42BA-82D4-5BE158B742B7}"/>
              </a:ext>
            </a:extLst>
          </p:cNvPr>
          <p:cNvSpPr>
            <a:spLocks xmlns:a="http://schemas.openxmlformats.org/drawingml/2006/main" noGrp="1"/>
          </p:cNvSpPr>
          <p:nvPr/>
        </p:nvSpPr>
        <p:spPr>
          <a:xfrm xmlns:a="http://schemas.openxmlformats.org/drawingml/2006/main">
            <a:off x="9353550" y="5791200"/>
            <a:ext cx="36861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3F2F2"/>
                </a:solidFill>
                <a:latin typeface="Arial"/>
                <a:ea typeface="Arial"/>
                <a:cs typeface="Arial"/>
              </a:defRPr>
            </a:pPr>
            <a:r>
              <a:t>Reassure</a:t>
            </a:r>
          </a:p>
        </p:txBody>
      </p:sp>
      <p:sp>
        <p:nvSpPr>
          <p:cNvPr id="14" name="challenge.reassure.body">
            <a:extLst xmlns:a="http://schemas.openxmlformats.org/drawingml/2006/main">
              <a:ext uri="{FF2B5EF4-FFF2-40B4-BE49-F238E27FC236}">
                <a16:creationId xmlns:a16="http://schemas.microsoft.com/office/drawing/2014/main" id="{89D14783-9DFB-41A7-B946-A2DC916614A5}"/>
              </a:ext>
            </a:extLst>
          </p:cNvPr>
          <p:cNvSpPr>
            <a:spLocks xmlns:a="http://schemas.openxmlformats.org/drawingml/2006/main" noGrp="1"/>
          </p:cNvSpPr>
          <p:nvPr/>
        </p:nvSpPr>
        <p:spPr>
          <a:xfrm xmlns:a="http://schemas.openxmlformats.org/drawingml/2006/main">
            <a:off x="9353550" y="6248400"/>
            <a:ext cx="36861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BEBDBD"/>
                </a:solidFill>
                <a:latin typeface="Arial"/>
                <a:ea typeface="Arial"/>
                <a:cs typeface="Arial"/>
              </a:defRPr>
            </a:pPr>
            <a:r>
              <a:t>Show the service is secure, dependable and supported by a complete banking ecosystem.</a:t>
            </a:r>
          </a:p>
        </p:txBody>
      </p:sp>
      <p:pic>
        <p:nvPicPr>
          <p:cNvPr id="40" name="challenge.convert.icon"/>
          <p:cNvPicPr>
            <a:picLocks xmlns:a="http://schemas.openxmlformats.org/drawingml/2006/main" noChangeAspect="1"/>
          </p:cNvPicPr>
          <p:nvPr/>
        </p:nvPicPr>
        <p:blipFill>
          <a:blip xmlns:r="http://schemas.openxmlformats.org/officeDocument/2006/relationships" xmlns:a="http://schemas.openxmlformats.org/drawingml/2006/main" r:embed="R4d8ff591c70242d5">
            <a:extLst>
              <a:ext uri="{96DAC541-7B7A-43D3-8B79-37D633B846F1}">
                <asvg:svgBlip xmlns:asvg="http://schemas.microsoft.com/office/drawing/2016/SVG/main" r:embed="Rcc56e99ea3054ada"/>
              </a:ext>
            </a:extLst>
          </a:blip>
          <a:stretch xmlns:a="http://schemas.openxmlformats.org/drawingml/2006/main"/>
        </p:blipFill>
        <p:spPr>
          <a:xfrm xmlns:a="http://schemas.openxmlformats.org/drawingml/2006/main">
            <a:off x="13458825" y="5124450"/>
            <a:ext cx="552450" cy="552450"/>
          </a:xfrm>
          <a:prstGeom xmlns:a="http://schemas.openxmlformats.org/drawingml/2006/main" prst="rect">
            <a:avLst/>
          </a:prstGeom>
        </p:spPr>
      </p:pic>
      <p:sp>
        <p:nvSpPr>
          <p:cNvPr id="16" name="challenge.convert.title">
            <a:extLst xmlns:a="http://schemas.openxmlformats.org/drawingml/2006/main">
              <a:ext uri="{FF2B5EF4-FFF2-40B4-BE49-F238E27FC236}">
                <a16:creationId xmlns:a16="http://schemas.microsoft.com/office/drawing/2014/main" id="{4E1ADCD7-1A8F-490C-B626-0989D2DD7323}"/>
              </a:ext>
            </a:extLst>
          </p:cNvPr>
          <p:cNvSpPr>
            <a:spLocks xmlns:a="http://schemas.openxmlformats.org/drawingml/2006/main" noGrp="1"/>
          </p:cNvSpPr>
          <p:nvPr/>
        </p:nvSpPr>
        <p:spPr>
          <a:xfrm xmlns:a="http://schemas.openxmlformats.org/drawingml/2006/main">
            <a:off x="13458825" y="5791200"/>
            <a:ext cx="36861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72B7FF"/>
                </a:solidFill>
                <a:latin typeface="Arial"/>
                <a:ea typeface="Arial"/>
                <a:cs typeface="Arial"/>
              </a:defRPr>
            </a:pPr>
            <a:r>
              <a:t>Convert</a:t>
            </a:r>
          </a:p>
        </p:txBody>
      </p:sp>
      <p:sp>
        <p:nvSpPr>
          <p:cNvPr id="17" name="challenge.convert.body">
            <a:extLst xmlns:a="http://schemas.openxmlformats.org/drawingml/2006/main">
              <a:ext uri="{FF2B5EF4-FFF2-40B4-BE49-F238E27FC236}">
                <a16:creationId xmlns:a16="http://schemas.microsoft.com/office/drawing/2014/main" id="{A9C3CCB6-2D84-44A9-A490-C370C13A0313}"/>
              </a:ext>
            </a:extLst>
          </p:cNvPr>
          <p:cNvSpPr>
            <a:spLocks xmlns:a="http://schemas.openxmlformats.org/drawingml/2006/main" noGrp="1"/>
          </p:cNvSpPr>
          <p:nvPr/>
        </p:nvSpPr>
        <p:spPr>
          <a:xfrm xmlns:a="http://schemas.openxmlformats.org/drawingml/2006/main">
            <a:off x="13458825" y="6248400"/>
            <a:ext cx="36861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BEBDBD"/>
                </a:solidFill>
                <a:latin typeface="Arial"/>
                <a:ea typeface="Arial"/>
                <a:cs typeface="Arial"/>
              </a:defRPr>
            </a:pPr>
            <a:r>
              <a:t>Move people from awareness to a first utility payment, then into repeated use.</a:t>
            </a:r>
          </a:p>
        </p:txBody>
      </p:sp>
      <p:sp>
        <p:nvSpPr>
          <p:cNvPr id="18" name="rule">
            <a:extLst xmlns:a="http://schemas.openxmlformats.org/drawingml/2006/main">
              <a:ext uri="{FF2B5EF4-FFF2-40B4-BE49-F238E27FC236}">
                <a16:creationId xmlns:a16="http://schemas.microsoft.com/office/drawing/2014/main" id="{8E879BC1-3E8D-490F-B7B7-7804C6F8BAF4}"/>
              </a:ext>
            </a:extLst>
          </p:cNvPr>
          <p:cNvSpPr>
            <a:spLocks xmlns:a="http://schemas.openxmlformats.org/drawingml/2006/main" noGrp="1"/>
          </p:cNvSpPr>
          <p:nvPr/>
        </p:nvSpPr>
        <p:spPr>
          <a:xfrm xmlns:a="http://schemas.openxmlformats.org/drawingml/2006/main">
            <a:off x="1143000" y="7477125"/>
            <a:ext cx="16002000" cy="19050"/>
          </a:xfrm>
          <a:prstGeom xmlns:a="http://schemas.openxmlformats.org/drawingml/2006/main" prst="rect">
            <a:avLst/>
          </a:prstGeom>
          <a:solidFill xmlns:a="http://schemas.openxmlformats.org/drawingml/2006/main">
            <a:srgbClr val="72B7FF"/>
          </a:solidFill>
          <a:ln xmlns:a="http://schemas.openxmlformats.org/drawingml/2006/main" w="0">
            <a:noFill/>
            <a:prstDash val="solid"/>
          </a:ln>
        </p:spPr>
      </p:sp>
      <p:sp>
        <p:nvSpPr>
          <p:cNvPr id="19" name="challenge.close">
            <a:extLst xmlns:a="http://schemas.openxmlformats.org/drawingml/2006/main">
              <a:ext uri="{FF2B5EF4-FFF2-40B4-BE49-F238E27FC236}">
                <a16:creationId xmlns:a16="http://schemas.microsoft.com/office/drawing/2014/main" id="{C78B5F81-9C68-4FAA-AD33-BD83BC23B50A}"/>
              </a:ext>
            </a:extLst>
          </p:cNvPr>
          <p:cNvSpPr>
            <a:spLocks xmlns:a="http://schemas.openxmlformats.org/drawingml/2006/main" noGrp="1"/>
          </p:cNvSpPr>
          <p:nvPr/>
        </p:nvSpPr>
        <p:spPr>
          <a:xfrm xmlns:a="http://schemas.openxmlformats.org/drawingml/2006/main">
            <a:off x="1143000" y="7705725"/>
            <a:ext cx="1428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950" b="0">
                <a:solidFill>
                  <a:srgbClr val="D3D2D2"/>
                </a:solidFill>
                <a:latin typeface="Arial"/>
                <a:ea typeface="Arial"/>
                <a:cs typeface="Arial"/>
              </a:defRPr>
            </a:pPr>
            <a:r>
              <a:t>Make a new financial category feel familiar, useful and trustworthy from day one.</a:t>
            </a:r>
          </a:p>
        </p:txBody>
      </p:sp>
      <p:sp>
        <p:nvSpPr>
          <p:cNvPr id="20" name="footer.bar">
            <a:extLst xmlns:a="http://schemas.openxmlformats.org/drawingml/2006/main">
              <a:ext uri="{FF2B5EF4-FFF2-40B4-BE49-F238E27FC236}">
                <a16:creationId xmlns:a16="http://schemas.microsoft.com/office/drawing/2014/main" id="{A50697C2-5E6A-4963-ACBD-494D09F0F252}"/>
              </a:ext>
            </a:extLst>
          </p:cNvPr>
          <p:cNvSpPr>
            <a:spLocks xmlns:a="http://schemas.openxmlformats.org/drawingml/2006/main" noGrp="1"/>
          </p:cNvSpPr>
          <p:nvPr/>
        </p:nvSpPr>
        <p:spPr>
          <a:xfrm xmlns:a="http://schemas.openxmlformats.org/drawingml/2006/main">
            <a:off x="0" y="9677400"/>
            <a:ext cx="18288000" cy="609600"/>
          </a:xfrm>
          <a:prstGeom xmlns:a="http://schemas.openxmlformats.org/drawingml/2006/main" prst="rect">
            <a:avLst/>
          </a:prstGeom>
          <a:solidFill xmlns:a="http://schemas.openxmlformats.org/drawingml/2006/main">
            <a:srgbClr val="201E1D"/>
          </a:solidFill>
          <a:ln xmlns:a="http://schemas.openxmlformats.org/drawingml/2006/main" w="0">
            <a:noFill/>
            <a:prstDash val="solid"/>
          </a:ln>
        </p:spPr>
      </p:sp>
      <p:pic>
        <p:nvPicPr>
          <p:cNvPr id="46" name="footer.ddb"/>
          <p:cNvPicPr>
            <a:picLocks xmlns:a="http://schemas.openxmlformats.org/drawingml/2006/main" noChangeAspect="1"/>
          </p:cNvPicPr>
          <p:nvPr/>
        </p:nvPicPr>
        <p:blipFill>
          <a:blip xmlns:r="http://schemas.openxmlformats.org/officeDocument/2006/relationships" xmlns:a="http://schemas.openxmlformats.org/drawingml/2006/main" r:embed="R7344cf85b2cc4ae7"/>
          <a:stretch xmlns:a="http://schemas.openxmlformats.org/drawingml/2006/main"/>
        </p:blipFill>
        <p:spPr>
          <a:xfrm xmlns:a="http://schemas.openxmlformats.org/drawingml/2006/main">
            <a:off x="382463" y="9848850"/>
            <a:ext cx="511425" cy="266700"/>
          </a:xfrm>
          <a:prstGeom xmlns:a="http://schemas.openxmlformats.org/drawingml/2006/main" prst="rect">
            <a:avLst/>
          </a:prstGeom>
        </p:spPr>
      </p:pic>
      <p:sp>
        <p:nvSpPr>
          <p:cNvPr id="22" name="footer.confidential">
            <a:extLst xmlns:a="http://schemas.openxmlformats.org/drawingml/2006/main">
              <a:ext uri="{FF2B5EF4-FFF2-40B4-BE49-F238E27FC236}">
                <a16:creationId xmlns:a16="http://schemas.microsoft.com/office/drawing/2014/main" id="{AFAE41C1-CC5B-4C50-8778-316DBF456FF4}"/>
              </a:ext>
            </a:extLst>
          </p:cNvPr>
          <p:cNvSpPr>
            <a:spLocks xmlns:a="http://schemas.openxmlformats.org/drawingml/2006/main" noGrp="1"/>
          </p:cNvSpPr>
          <p:nvPr/>
        </p:nvSpPr>
        <p:spPr>
          <a:xfrm xmlns:a="http://schemas.openxmlformats.org/drawingml/2006/main">
            <a:off x="1123950" y="967740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BEBDBD"/>
                </a:solidFill>
                <a:latin typeface="Arial"/>
                <a:ea typeface="Arial"/>
                <a:cs typeface="Arial"/>
              </a:defRPr>
            </a:pPr>
            <a:r>
              <a:t>CONFIDENTIAL • PREPARED FOR ONEUTILITY BANK</a:t>
            </a:r>
          </a:p>
        </p:txBody>
      </p:sp>
      <p:sp>
        <p:nvSpPr>
          <p:cNvPr id="23" name="footer.title">
            <a:extLst xmlns:a="http://schemas.openxmlformats.org/drawingml/2006/main">
              <a:ext uri="{FF2B5EF4-FFF2-40B4-BE49-F238E27FC236}">
                <a16:creationId xmlns:a16="http://schemas.microsoft.com/office/drawing/2014/main" id="{BCC21221-0885-4F08-843D-D7C1B4883DB8}"/>
              </a:ext>
            </a:extLst>
          </p:cNvPr>
          <p:cNvSpPr>
            <a:spLocks xmlns:a="http://schemas.openxmlformats.org/drawingml/2006/main" noGrp="1"/>
          </p:cNvSpPr>
          <p:nvPr/>
        </p:nvSpPr>
        <p:spPr>
          <a:xfrm xmlns:a="http://schemas.openxmlformats.org/drawingml/2006/main">
            <a:off x="11582400" y="967740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1">
                <a:solidFill>
                  <a:srgbClr val="F3F2F2"/>
                </a:solidFill>
                <a:latin typeface="Arial"/>
                <a:ea typeface="Arial"/>
                <a:cs typeface="Arial"/>
              </a:defRPr>
            </a:pPr>
            <a:r>
              <a:t>1U 360 CAMPAIGN PROPOSAL</a:t>
            </a:r>
          </a:p>
        </p:txBody>
      </p:sp>
      <p:sp>
        <p:nvSpPr>
          <p:cNvPr id="24" name="footer.number.bg">
            <a:extLst xmlns:a="http://schemas.openxmlformats.org/drawingml/2006/main">
              <a:ext uri="{FF2B5EF4-FFF2-40B4-BE49-F238E27FC236}">
                <a16:creationId xmlns:a16="http://schemas.microsoft.com/office/drawing/2014/main" id="{A03D5D51-60E3-41AC-814A-E4B798D7817B}"/>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sp>
        <p:nvSpPr>
          <p:cNvPr id="25" name="footer.number">
            <a:extLst xmlns:a="http://schemas.openxmlformats.org/drawingml/2006/main">
              <a:ext uri="{FF2B5EF4-FFF2-40B4-BE49-F238E27FC236}">
                <a16:creationId xmlns:a16="http://schemas.microsoft.com/office/drawing/2014/main" id="{1D59F970-BE33-4C52-AE5D-F227B4DEF899}"/>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F3F2F2"/>
                </a:solidFill>
                <a:latin typeface="Arial"/>
                <a:ea typeface="Arial"/>
                <a:cs typeface="Arial"/>
              </a:defRPr>
            </a:pPr>
            <a:r>
              <a:t>3</a:t>
            </a:r>
          </a:p>
        </p:txBody>
      </p:sp>
    </p:spTree>
    <p:extLst>
      <p:ext uri="{BB962C8B-B14F-4D97-AF65-F5344CB8AC3E}">
        <p14:creationId xmlns:p14="http://schemas.microsoft.com/office/powerpoint/2010/main" val="157623770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9" name="slide.bg">
            <a:extLst xmlns:a="http://schemas.openxmlformats.org/drawingml/2006/main">
              <a:ext uri="{FF2B5EF4-FFF2-40B4-BE49-F238E27FC236}">
                <a16:creationId xmlns:a16="http://schemas.microsoft.com/office/drawing/2014/main" id="{5505661B-FF9E-4427-978B-C544B4B5A9A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3F2F2"/>
          </a:solidFill>
          <a:ln xmlns:a="http://schemas.openxmlformats.org/drawingml/2006/main" w="0">
            <a:noFill/>
            <a:prstDash val="solid"/>
          </a:ln>
        </p:spPr>
      </p:sp>
      <p:pic>
        <p:nvPicPr>
          <p:cNvPr id="30" name="audience.photo"/>
          <p:cNvPicPr>
            <a:picLocks xmlns:a="http://schemas.openxmlformats.org/drawingml/2006/main" noChangeAspect="1"/>
          </p:cNvPicPr>
          <p:nvPr/>
        </p:nvPicPr>
        <p:blipFill>
          <a:blip xmlns:r="http://schemas.openxmlformats.org/officeDocument/2006/relationships" xmlns:a="http://schemas.openxmlformats.org/drawingml/2006/main" r:embed="Rc2a0bfe560d74f3c"/>
          <a:srcRect xmlns:a="http://schemas.openxmlformats.org/drawingml/2006/main" l="2756" t="0" r="2756" b="0"/>
          <a:stretch xmlns:a="http://schemas.openxmlformats.org/drawingml/2006/main">
            <a:fillRect l="0" t="0" r="0" b="0"/>
          </a:stretch>
        </p:blipFill>
        <p:spPr>
          <a:xfrm xmlns:a="http://schemas.openxmlformats.org/drawingml/2006/main">
            <a:off x="9144000" y="0"/>
            <a:ext cx="9144000" cy="9677400"/>
          </a:xfrm>
          <a:prstGeom xmlns:a="http://schemas.openxmlformats.org/drawingml/2006/main" prst="rect">
            <a:avLst/>
          </a:prstGeom>
        </p:spPr>
      </p:pic>
      <p:sp>
        <p:nvSpPr>
          <p:cNvPr id="3" name="audience.h2">
            <a:extLst xmlns:a="http://schemas.openxmlformats.org/drawingml/2006/main">
              <a:ext uri="{FF2B5EF4-FFF2-40B4-BE49-F238E27FC236}">
                <a16:creationId xmlns:a16="http://schemas.microsoft.com/office/drawing/2014/main" id="{37234CD7-F331-4BFE-A826-4CAC44FDF7FA}"/>
              </a:ext>
            </a:extLst>
          </p:cNvPr>
          <p:cNvSpPr>
            <a:spLocks xmlns:a="http://schemas.openxmlformats.org/drawingml/2006/main" noGrp="1"/>
          </p:cNvSpPr>
          <p:nvPr/>
        </p:nvSpPr>
        <p:spPr>
          <a:xfrm xmlns:a="http://schemas.openxmlformats.org/drawingml/2006/main">
            <a:off x="1143000" y="1657350"/>
            <a:ext cx="7239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201E1D"/>
                </a:solidFill>
                <a:latin typeface="Arial"/>
                <a:ea typeface="Arial"/>
                <a:cs typeface="Arial"/>
              </a:defRPr>
            </a:pPr>
            <a:r>
              <a:t>Our understanding of the audience</a:t>
            </a:r>
          </a:p>
        </p:txBody>
      </p:sp>
      <p:sp>
        <p:nvSpPr>
          <p:cNvPr id="4" name="audience.h3">
            <a:extLst xmlns:a="http://schemas.openxmlformats.org/drawingml/2006/main">
              <a:ext uri="{FF2B5EF4-FFF2-40B4-BE49-F238E27FC236}">
                <a16:creationId xmlns:a16="http://schemas.microsoft.com/office/drawing/2014/main" id="{65C385FB-DD90-427D-80B9-6AEF13DA686A}"/>
              </a:ext>
            </a:extLst>
          </p:cNvPr>
          <p:cNvSpPr>
            <a:spLocks xmlns:a="http://schemas.openxmlformats.org/drawingml/2006/main" noGrp="1"/>
          </p:cNvSpPr>
          <p:nvPr/>
        </p:nvSpPr>
        <p:spPr>
          <a:xfrm xmlns:a="http://schemas.openxmlformats.org/drawingml/2006/main">
            <a:off x="1143000" y="3076575"/>
            <a:ext cx="7239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0">
                <a:solidFill>
                  <a:srgbClr val="5B5959"/>
                </a:solidFill>
                <a:latin typeface="Arial"/>
                <a:ea typeface="Arial"/>
                <a:cs typeface="Arial"/>
              </a:defRPr>
            </a:pPr>
            <a:r>
              <a:t>Different Nigerians, connected by the same everyday reality.</a:t>
            </a:r>
          </a:p>
        </p:txBody>
      </p:sp>
      <p:sp>
        <p:nvSpPr>
          <p:cNvPr id="5" name="audience.body">
            <a:extLst xmlns:a="http://schemas.openxmlformats.org/drawingml/2006/main">
              <a:ext uri="{FF2B5EF4-FFF2-40B4-BE49-F238E27FC236}">
                <a16:creationId xmlns:a16="http://schemas.microsoft.com/office/drawing/2014/main" id="{8A54B57F-65BC-424B-99AD-2365D01AC7EC}"/>
              </a:ext>
            </a:extLst>
          </p:cNvPr>
          <p:cNvSpPr>
            <a:spLocks xmlns:a="http://schemas.openxmlformats.org/drawingml/2006/main" noGrp="1"/>
          </p:cNvSpPr>
          <p:nvPr/>
        </p:nvSpPr>
        <p:spPr>
          <a:xfrm xmlns:a="http://schemas.openxmlformats.org/drawingml/2006/main">
            <a:off x="1143000" y="4162425"/>
            <a:ext cx="72390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E4D4C"/>
                </a:solidFill>
                <a:latin typeface="Arial"/>
                <a:ea typeface="Arial"/>
                <a:cs typeface="Arial"/>
              </a:defRPr>
            </a:pPr>
            <a:r>
              <a:t>The brief identifies a broad audience: salaried professionals, students, SMEs, traders, gig workers, families, young professionals and digitally confident consumers. Incomes and lifestyles differ. What they share is that money is constantly being assigned to practical responsibilities such as electricity, airtime, data, transport, rent, healthcare, school fees, family support and business needs.</a:t>
            </a:r>
          </a:p>
        </p:txBody>
      </p:sp>
      <p:sp>
        <p:nvSpPr>
          <p:cNvPr id="6" name="rule">
            <a:extLst xmlns:a="http://schemas.openxmlformats.org/drawingml/2006/main">
              <a:ext uri="{FF2B5EF4-FFF2-40B4-BE49-F238E27FC236}">
                <a16:creationId xmlns:a16="http://schemas.microsoft.com/office/drawing/2014/main" id="{7D759FAC-1AEE-4C7A-9AA6-1D882122A0A4}"/>
              </a:ext>
            </a:extLst>
          </p:cNvPr>
          <p:cNvSpPr>
            <a:spLocks xmlns:a="http://schemas.openxmlformats.org/drawingml/2006/main" noGrp="1"/>
          </p:cNvSpPr>
          <p:nvPr/>
        </p:nvSpPr>
        <p:spPr>
          <a:xfrm xmlns:a="http://schemas.openxmlformats.org/drawingml/2006/main">
            <a:off x="1143000" y="6724650"/>
            <a:ext cx="7239000" cy="19050"/>
          </a:xfrm>
          <a:prstGeom xmlns:a="http://schemas.openxmlformats.org/drawingml/2006/main" prst="rect">
            <a:avLst/>
          </a:prstGeom>
          <a:solidFill xmlns:a="http://schemas.openxmlformats.org/drawingml/2006/main">
            <a:srgbClr val="C5C3C3"/>
          </a:solidFill>
          <a:ln xmlns:a="http://schemas.openxmlformats.org/drawingml/2006/main" w="0">
            <a:noFill/>
            <a:prstDash val="solid"/>
          </a:ln>
        </p:spPr>
      </p:sp>
      <p:sp>
        <p:nvSpPr>
          <p:cNvPr id="7" name="audience.pill.Salaried professionals">
            <a:extLst xmlns:a="http://schemas.openxmlformats.org/drawingml/2006/main">
              <a:ext uri="{FF2B5EF4-FFF2-40B4-BE49-F238E27FC236}">
                <a16:creationId xmlns:a16="http://schemas.microsoft.com/office/drawing/2014/main" id="{8363E9C1-CDDC-465A-9F83-C8C8D2FE87F6}"/>
              </a:ext>
            </a:extLst>
          </p:cNvPr>
          <p:cNvSpPr>
            <a:spLocks xmlns:a="http://schemas.openxmlformats.org/drawingml/2006/main" noGrp="1"/>
          </p:cNvSpPr>
          <p:nvPr/>
        </p:nvSpPr>
        <p:spPr>
          <a:xfrm xmlns:a="http://schemas.openxmlformats.org/drawingml/2006/main">
            <a:off x="1143000" y="6896100"/>
            <a:ext cx="2647950" cy="400050"/>
          </a:xfrm>
          <a:prstGeom xmlns:a="http://schemas.openxmlformats.org/drawingml/2006/main" prst="roundRect">
            <a:avLst>
              <a:gd name="adj" fmla="val 50000"/>
            </a:avLst>
          </a:prstGeom>
          <a:noFill xmlns:a="http://schemas.openxmlformats.org/drawingml/2006/main"/>
          <a:ln xmlns:a="http://schemas.openxmlformats.org/drawingml/2006/main" w="14288">
            <a:solidFill>
              <a:srgbClr val="201E1D"/>
            </a:solidFill>
            <a:prstDash val="solid"/>
          </a:ln>
        </p:spPr>
      </p:sp>
      <p:sp>
        <p:nvSpPr>
          <p:cNvPr id="8" name="audience.pill.Salaried professionals.text">
            <a:extLst xmlns:a="http://schemas.openxmlformats.org/drawingml/2006/main">
              <a:ext uri="{FF2B5EF4-FFF2-40B4-BE49-F238E27FC236}">
                <a16:creationId xmlns:a16="http://schemas.microsoft.com/office/drawing/2014/main" id="{396777A2-0E18-4911-8DAB-7937DBB55B9C}"/>
              </a:ext>
            </a:extLst>
          </p:cNvPr>
          <p:cNvSpPr>
            <a:spLocks xmlns:a="http://schemas.openxmlformats.org/drawingml/2006/main" noGrp="1"/>
          </p:cNvSpPr>
          <p:nvPr/>
        </p:nvSpPr>
        <p:spPr>
          <a:xfrm xmlns:a="http://schemas.openxmlformats.org/drawingml/2006/main">
            <a:off x="1143000" y="6896100"/>
            <a:ext cx="264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201E1D"/>
                </a:solidFill>
                <a:latin typeface="Arial"/>
                <a:ea typeface="Arial"/>
                <a:cs typeface="Arial"/>
              </a:defRPr>
            </a:pPr>
            <a:r>
              <a:t>Salaried professionals</a:t>
            </a:r>
          </a:p>
        </p:txBody>
      </p:sp>
      <p:sp>
        <p:nvSpPr>
          <p:cNvPr id="9" name="audience.pill.Students">
            <a:extLst xmlns:a="http://schemas.openxmlformats.org/drawingml/2006/main">
              <a:ext uri="{FF2B5EF4-FFF2-40B4-BE49-F238E27FC236}">
                <a16:creationId xmlns:a16="http://schemas.microsoft.com/office/drawing/2014/main" id="{A156FC4B-D791-444E-AD83-D67A164EC5A0}"/>
              </a:ext>
            </a:extLst>
          </p:cNvPr>
          <p:cNvSpPr>
            <a:spLocks xmlns:a="http://schemas.openxmlformats.org/drawingml/2006/main" noGrp="1"/>
          </p:cNvSpPr>
          <p:nvPr/>
        </p:nvSpPr>
        <p:spPr>
          <a:xfrm xmlns:a="http://schemas.openxmlformats.org/drawingml/2006/main">
            <a:off x="3886200" y="6896100"/>
            <a:ext cx="1162050" cy="400050"/>
          </a:xfrm>
          <a:prstGeom xmlns:a="http://schemas.openxmlformats.org/drawingml/2006/main" prst="roundRect">
            <a:avLst>
              <a:gd name="adj" fmla="val 50000"/>
            </a:avLst>
          </a:prstGeom>
          <a:noFill xmlns:a="http://schemas.openxmlformats.org/drawingml/2006/main"/>
          <a:ln xmlns:a="http://schemas.openxmlformats.org/drawingml/2006/main" w="14288">
            <a:solidFill>
              <a:srgbClr val="201E1D"/>
            </a:solidFill>
            <a:prstDash val="solid"/>
          </a:ln>
        </p:spPr>
      </p:sp>
      <p:sp>
        <p:nvSpPr>
          <p:cNvPr id="10" name="audience.pill.Students.text">
            <a:extLst xmlns:a="http://schemas.openxmlformats.org/drawingml/2006/main">
              <a:ext uri="{FF2B5EF4-FFF2-40B4-BE49-F238E27FC236}">
                <a16:creationId xmlns:a16="http://schemas.microsoft.com/office/drawing/2014/main" id="{A395BDF3-4ACB-437B-9A76-5F238B65DD48}"/>
              </a:ext>
            </a:extLst>
          </p:cNvPr>
          <p:cNvSpPr>
            <a:spLocks xmlns:a="http://schemas.openxmlformats.org/drawingml/2006/main" noGrp="1"/>
          </p:cNvSpPr>
          <p:nvPr/>
        </p:nvSpPr>
        <p:spPr>
          <a:xfrm xmlns:a="http://schemas.openxmlformats.org/drawingml/2006/main">
            <a:off x="3886200" y="6896100"/>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201E1D"/>
                </a:solidFill>
                <a:latin typeface="Arial"/>
                <a:ea typeface="Arial"/>
                <a:cs typeface="Arial"/>
              </a:defRPr>
            </a:pPr>
            <a:r>
              <a:t>Students</a:t>
            </a:r>
          </a:p>
        </p:txBody>
      </p:sp>
      <p:sp>
        <p:nvSpPr>
          <p:cNvPr id="11" name="audience.pill.SMEs">
            <a:extLst xmlns:a="http://schemas.openxmlformats.org/drawingml/2006/main">
              <a:ext uri="{FF2B5EF4-FFF2-40B4-BE49-F238E27FC236}">
                <a16:creationId xmlns:a16="http://schemas.microsoft.com/office/drawing/2014/main" id="{F7F7AD92-3BCD-4ED2-B493-CB21F4DACA20}"/>
              </a:ext>
            </a:extLst>
          </p:cNvPr>
          <p:cNvSpPr>
            <a:spLocks xmlns:a="http://schemas.openxmlformats.org/drawingml/2006/main" noGrp="1"/>
          </p:cNvSpPr>
          <p:nvPr/>
        </p:nvSpPr>
        <p:spPr>
          <a:xfrm xmlns:a="http://schemas.openxmlformats.org/drawingml/2006/main">
            <a:off x="5143500" y="6896100"/>
            <a:ext cx="733425" cy="400050"/>
          </a:xfrm>
          <a:prstGeom xmlns:a="http://schemas.openxmlformats.org/drawingml/2006/main" prst="roundRect">
            <a:avLst>
              <a:gd name="adj" fmla="val 50000"/>
            </a:avLst>
          </a:prstGeom>
          <a:noFill xmlns:a="http://schemas.openxmlformats.org/drawingml/2006/main"/>
          <a:ln xmlns:a="http://schemas.openxmlformats.org/drawingml/2006/main" w="14288">
            <a:solidFill>
              <a:srgbClr val="201E1D"/>
            </a:solidFill>
            <a:prstDash val="solid"/>
          </a:ln>
        </p:spPr>
      </p:sp>
      <p:sp>
        <p:nvSpPr>
          <p:cNvPr id="12" name="audience.pill.SMEs.text">
            <a:extLst xmlns:a="http://schemas.openxmlformats.org/drawingml/2006/main">
              <a:ext uri="{FF2B5EF4-FFF2-40B4-BE49-F238E27FC236}">
                <a16:creationId xmlns:a16="http://schemas.microsoft.com/office/drawing/2014/main" id="{1004C587-9E88-4B1C-B7B3-470C800016F7}"/>
              </a:ext>
            </a:extLst>
          </p:cNvPr>
          <p:cNvSpPr>
            <a:spLocks xmlns:a="http://schemas.openxmlformats.org/drawingml/2006/main" noGrp="1"/>
          </p:cNvSpPr>
          <p:nvPr/>
        </p:nvSpPr>
        <p:spPr>
          <a:xfrm xmlns:a="http://schemas.openxmlformats.org/drawingml/2006/main">
            <a:off x="5143500" y="6896100"/>
            <a:ext cx="733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201E1D"/>
                </a:solidFill>
                <a:latin typeface="Arial"/>
                <a:ea typeface="Arial"/>
                <a:cs typeface="Arial"/>
              </a:defRPr>
            </a:pPr>
            <a:r>
              <a:t>SMEs</a:t>
            </a:r>
          </a:p>
        </p:txBody>
      </p:sp>
      <p:sp>
        <p:nvSpPr>
          <p:cNvPr id="13" name="audience.pill.Market traders">
            <a:extLst xmlns:a="http://schemas.openxmlformats.org/drawingml/2006/main">
              <a:ext uri="{FF2B5EF4-FFF2-40B4-BE49-F238E27FC236}">
                <a16:creationId xmlns:a16="http://schemas.microsoft.com/office/drawing/2014/main" id="{D11A2983-AB07-40A3-83FA-AFA15A1BEBCE}"/>
              </a:ext>
            </a:extLst>
          </p:cNvPr>
          <p:cNvSpPr>
            <a:spLocks xmlns:a="http://schemas.openxmlformats.org/drawingml/2006/main" noGrp="1"/>
          </p:cNvSpPr>
          <p:nvPr/>
        </p:nvSpPr>
        <p:spPr>
          <a:xfrm xmlns:a="http://schemas.openxmlformats.org/drawingml/2006/main">
            <a:off x="5972175" y="6896100"/>
            <a:ext cx="1800225" cy="400050"/>
          </a:xfrm>
          <a:prstGeom xmlns:a="http://schemas.openxmlformats.org/drawingml/2006/main" prst="roundRect">
            <a:avLst>
              <a:gd name="adj" fmla="val 50000"/>
            </a:avLst>
          </a:prstGeom>
          <a:noFill xmlns:a="http://schemas.openxmlformats.org/drawingml/2006/main"/>
          <a:ln xmlns:a="http://schemas.openxmlformats.org/drawingml/2006/main" w="14288">
            <a:solidFill>
              <a:srgbClr val="201E1D"/>
            </a:solidFill>
            <a:prstDash val="solid"/>
          </a:ln>
        </p:spPr>
      </p:sp>
      <p:sp>
        <p:nvSpPr>
          <p:cNvPr id="14" name="audience.pill.Market traders.text">
            <a:extLst xmlns:a="http://schemas.openxmlformats.org/drawingml/2006/main">
              <a:ext uri="{FF2B5EF4-FFF2-40B4-BE49-F238E27FC236}">
                <a16:creationId xmlns:a16="http://schemas.microsoft.com/office/drawing/2014/main" id="{26989597-2A29-4D97-963C-1C9797B0F7B0}"/>
              </a:ext>
            </a:extLst>
          </p:cNvPr>
          <p:cNvSpPr>
            <a:spLocks xmlns:a="http://schemas.openxmlformats.org/drawingml/2006/main" noGrp="1"/>
          </p:cNvSpPr>
          <p:nvPr/>
        </p:nvSpPr>
        <p:spPr>
          <a:xfrm xmlns:a="http://schemas.openxmlformats.org/drawingml/2006/main">
            <a:off x="5972175" y="6896100"/>
            <a:ext cx="1800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201E1D"/>
                </a:solidFill>
                <a:latin typeface="Arial"/>
                <a:ea typeface="Arial"/>
                <a:cs typeface="Arial"/>
              </a:defRPr>
            </a:pPr>
            <a:r>
              <a:t>Market traders</a:t>
            </a:r>
          </a:p>
        </p:txBody>
      </p:sp>
      <p:sp>
        <p:nvSpPr>
          <p:cNvPr id="15" name="audience.pill.Gig workers">
            <a:extLst xmlns:a="http://schemas.openxmlformats.org/drawingml/2006/main">
              <a:ext uri="{FF2B5EF4-FFF2-40B4-BE49-F238E27FC236}">
                <a16:creationId xmlns:a16="http://schemas.microsoft.com/office/drawing/2014/main" id="{E08D28FD-B083-41E3-8BA5-E0771CA12E0D}"/>
              </a:ext>
            </a:extLst>
          </p:cNvPr>
          <p:cNvSpPr>
            <a:spLocks xmlns:a="http://schemas.openxmlformats.org/drawingml/2006/main" noGrp="1"/>
          </p:cNvSpPr>
          <p:nvPr/>
        </p:nvSpPr>
        <p:spPr>
          <a:xfrm xmlns:a="http://schemas.openxmlformats.org/drawingml/2006/main">
            <a:off x="1143000" y="7391400"/>
            <a:ext cx="1476375" cy="400050"/>
          </a:xfrm>
          <a:prstGeom xmlns:a="http://schemas.openxmlformats.org/drawingml/2006/main" prst="roundRect">
            <a:avLst>
              <a:gd name="adj" fmla="val 50000"/>
            </a:avLst>
          </a:prstGeom>
          <a:noFill xmlns:a="http://schemas.openxmlformats.org/drawingml/2006/main"/>
          <a:ln xmlns:a="http://schemas.openxmlformats.org/drawingml/2006/main" w="14288">
            <a:solidFill>
              <a:srgbClr val="201E1D"/>
            </a:solidFill>
            <a:prstDash val="solid"/>
          </a:ln>
        </p:spPr>
      </p:sp>
      <p:sp>
        <p:nvSpPr>
          <p:cNvPr id="16" name="audience.pill.Gig workers.text">
            <a:extLst xmlns:a="http://schemas.openxmlformats.org/drawingml/2006/main">
              <a:ext uri="{FF2B5EF4-FFF2-40B4-BE49-F238E27FC236}">
                <a16:creationId xmlns:a16="http://schemas.microsoft.com/office/drawing/2014/main" id="{1349E6EA-2BD3-4DA1-B5C8-7ACBE266634D}"/>
              </a:ext>
            </a:extLst>
          </p:cNvPr>
          <p:cNvSpPr>
            <a:spLocks xmlns:a="http://schemas.openxmlformats.org/drawingml/2006/main" noGrp="1"/>
          </p:cNvSpPr>
          <p:nvPr/>
        </p:nvSpPr>
        <p:spPr>
          <a:xfrm xmlns:a="http://schemas.openxmlformats.org/drawingml/2006/main">
            <a:off x="1143000" y="7391400"/>
            <a:ext cx="1476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201E1D"/>
                </a:solidFill>
                <a:latin typeface="Arial"/>
                <a:ea typeface="Arial"/>
                <a:cs typeface="Arial"/>
              </a:defRPr>
            </a:pPr>
            <a:r>
              <a:t>Gig workers</a:t>
            </a:r>
          </a:p>
        </p:txBody>
      </p:sp>
      <p:sp>
        <p:nvSpPr>
          <p:cNvPr id="17" name="audience.pill.Families">
            <a:extLst xmlns:a="http://schemas.openxmlformats.org/drawingml/2006/main">
              <a:ext uri="{FF2B5EF4-FFF2-40B4-BE49-F238E27FC236}">
                <a16:creationId xmlns:a16="http://schemas.microsoft.com/office/drawing/2014/main" id="{C97C559A-7438-4948-B5A4-A9B9A8E88F8C}"/>
              </a:ext>
            </a:extLst>
          </p:cNvPr>
          <p:cNvSpPr>
            <a:spLocks xmlns:a="http://schemas.openxmlformats.org/drawingml/2006/main" noGrp="1"/>
          </p:cNvSpPr>
          <p:nvPr/>
        </p:nvSpPr>
        <p:spPr>
          <a:xfrm xmlns:a="http://schemas.openxmlformats.org/drawingml/2006/main">
            <a:off x="2714625" y="7391400"/>
            <a:ext cx="1162050" cy="400050"/>
          </a:xfrm>
          <a:prstGeom xmlns:a="http://schemas.openxmlformats.org/drawingml/2006/main" prst="roundRect">
            <a:avLst>
              <a:gd name="adj" fmla="val 50000"/>
            </a:avLst>
          </a:prstGeom>
          <a:noFill xmlns:a="http://schemas.openxmlformats.org/drawingml/2006/main"/>
          <a:ln xmlns:a="http://schemas.openxmlformats.org/drawingml/2006/main" w="14288">
            <a:solidFill>
              <a:srgbClr val="201E1D"/>
            </a:solidFill>
            <a:prstDash val="solid"/>
          </a:ln>
        </p:spPr>
      </p:sp>
      <p:sp>
        <p:nvSpPr>
          <p:cNvPr id="18" name="audience.pill.Families.text">
            <a:extLst xmlns:a="http://schemas.openxmlformats.org/drawingml/2006/main">
              <a:ext uri="{FF2B5EF4-FFF2-40B4-BE49-F238E27FC236}">
                <a16:creationId xmlns:a16="http://schemas.microsoft.com/office/drawing/2014/main" id="{2CDF390D-05FE-4A58-BBF6-A56D1F94D8E7}"/>
              </a:ext>
            </a:extLst>
          </p:cNvPr>
          <p:cNvSpPr>
            <a:spLocks xmlns:a="http://schemas.openxmlformats.org/drawingml/2006/main" noGrp="1"/>
          </p:cNvSpPr>
          <p:nvPr/>
        </p:nvSpPr>
        <p:spPr>
          <a:xfrm xmlns:a="http://schemas.openxmlformats.org/drawingml/2006/main">
            <a:off x="2714625" y="7391400"/>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201E1D"/>
                </a:solidFill>
                <a:latin typeface="Arial"/>
                <a:ea typeface="Arial"/>
                <a:cs typeface="Arial"/>
              </a:defRPr>
            </a:pPr>
            <a:r>
              <a:t>Families</a:t>
            </a:r>
          </a:p>
        </p:txBody>
      </p:sp>
      <p:sp>
        <p:nvSpPr>
          <p:cNvPr id="19" name="audience.pill.Young professionals">
            <a:extLst xmlns:a="http://schemas.openxmlformats.org/drawingml/2006/main">
              <a:ext uri="{FF2B5EF4-FFF2-40B4-BE49-F238E27FC236}">
                <a16:creationId xmlns:a16="http://schemas.microsoft.com/office/drawing/2014/main" id="{91C78439-8DED-43F7-9C87-4DB4BA7BD6A2}"/>
              </a:ext>
            </a:extLst>
          </p:cNvPr>
          <p:cNvSpPr>
            <a:spLocks xmlns:a="http://schemas.openxmlformats.org/drawingml/2006/main" noGrp="1"/>
          </p:cNvSpPr>
          <p:nvPr/>
        </p:nvSpPr>
        <p:spPr>
          <a:xfrm xmlns:a="http://schemas.openxmlformats.org/drawingml/2006/main">
            <a:off x="3971925" y="7391400"/>
            <a:ext cx="2333625" cy="400050"/>
          </a:xfrm>
          <a:prstGeom xmlns:a="http://schemas.openxmlformats.org/drawingml/2006/main" prst="roundRect">
            <a:avLst>
              <a:gd name="adj" fmla="val 50000"/>
            </a:avLst>
          </a:prstGeom>
          <a:noFill xmlns:a="http://schemas.openxmlformats.org/drawingml/2006/main"/>
          <a:ln xmlns:a="http://schemas.openxmlformats.org/drawingml/2006/main" w="14288">
            <a:solidFill>
              <a:srgbClr val="201E1D"/>
            </a:solidFill>
            <a:prstDash val="solid"/>
          </a:ln>
        </p:spPr>
      </p:sp>
      <p:sp>
        <p:nvSpPr>
          <p:cNvPr id="20" name="audience.pill.Young professionals.text">
            <a:extLst xmlns:a="http://schemas.openxmlformats.org/drawingml/2006/main">
              <a:ext uri="{FF2B5EF4-FFF2-40B4-BE49-F238E27FC236}">
                <a16:creationId xmlns:a16="http://schemas.microsoft.com/office/drawing/2014/main" id="{AF0C6ED0-BDA0-4FEC-807C-54BD11F43B42}"/>
              </a:ext>
            </a:extLst>
          </p:cNvPr>
          <p:cNvSpPr>
            <a:spLocks xmlns:a="http://schemas.openxmlformats.org/drawingml/2006/main" noGrp="1"/>
          </p:cNvSpPr>
          <p:nvPr/>
        </p:nvSpPr>
        <p:spPr>
          <a:xfrm xmlns:a="http://schemas.openxmlformats.org/drawingml/2006/main">
            <a:off x="3971925" y="7391400"/>
            <a:ext cx="233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201E1D"/>
                </a:solidFill>
                <a:latin typeface="Arial"/>
                <a:ea typeface="Arial"/>
                <a:cs typeface="Arial"/>
              </a:defRPr>
            </a:pPr>
            <a:r>
              <a:t>Young professionals</a:t>
            </a:r>
          </a:p>
        </p:txBody>
      </p:sp>
      <p:sp>
        <p:nvSpPr>
          <p:cNvPr id="21" name="audience.pill.Digital-first consumers">
            <a:extLst xmlns:a="http://schemas.openxmlformats.org/drawingml/2006/main">
              <a:ext uri="{FF2B5EF4-FFF2-40B4-BE49-F238E27FC236}">
                <a16:creationId xmlns:a16="http://schemas.microsoft.com/office/drawing/2014/main" id="{4598FC8D-833C-4F10-84A2-424E4C1AD522}"/>
              </a:ext>
            </a:extLst>
          </p:cNvPr>
          <p:cNvSpPr>
            <a:spLocks xmlns:a="http://schemas.openxmlformats.org/drawingml/2006/main" noGrp="1"/>
          </p:cNvSpPr>
          <p:nvPr/>
        </p:nvSpPr>
        <p:spPr>
          <a:xfrm xmlns:a="http://schemas.openxmlformats.org/drawingml/2006/main">
            <a:off x="1143000" y="7886700"/>
            <a:ext cx="2762250" cy="400050"/>
          </a:xfrm>
          <a:prstGeom xmlns:a="http://schemas.openxmlformats.org/drawingml/2006/main" prst="roundRect">
            <a:avLst>
              <a:gd name="adj" fmla="val 50000"/>
            </a:avLst>
          </a:prstGeom>
          <a:noFill xmlns:a="http://schemas.openxmlformats.org/drawingml/2006/main"/>
          <a:ln xmlns:a="http://schemas.openxmlformats.org/drawingml/2006/main" w="14288">
            <a:solidFill>
              <a:srgbClr val="201E1D"/>
            </a:solidFill>
            <a:prstDash val="solid"/>
          </a:ln>
        </p:spPr>
      </p:sp>
      <p:sp>
        <p:nvSpPr>
          <p:cNvPr id="22" name="audience.pill.Digital-first consumers.text">
            <a:extLst xmlns:a="http://schemas.openxmlformats.org/drawingml/2006/main">
              <a:ext uri="{FF2B5EF4-FFF2-40B4-BE49-F238E27FC236}">
                <a16:creationId xmlns:a16="http://schemas.microsoft.com/office/drawing/2014/main" id="{CA1EBDCA-5701-4329-9FA0-F1097CF12D83}"/>
              </a:ext>
            </a:extLst>
          </p:cNvPr>
          <p:cNvSpPr>
            <a:spLocks xmlns:a="http://schemas.openxmlformats.org/drawingml/2006/main" noGrp="1"/>
          </p:cNvSpPr>
          <p:nvPr/>
        </p:nvSpPr>
        <p:spPr>
          <a:xfrm xmlns:a="http://schemas.openxmlformats.org/drawingml/2006/main">
            <a:off x="1143000" y="78867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201E1D"/>
                </a:solidFill>
                <a:latin typeface="Arial"/>
                <a:ea typeface="Arial"/>
                <a:cs typeface="Arial"/>
              </a:defRPr>
            </a:pPr>
            <a:r>
              <a:t>Digital-first consumers</a:t>
            </a:r>
          </a:p>
        </p:txBody>
      </p:sp>
      <p:sp>
        <p:nvSpPr>
          <p:cNvPr id="23" name="footer.bar">
            <a:extLst xmlns:a="http://schemas.openxmlformats.org/drawingml/2006/main">
              <a:ext uri="{FF2B5EF4-FFF2-40B4-BE49-F238E27FC236}">
                <a16:creationId xmlns:a16="http://schemas.microsoft.com/office/drawing/2014/main" id="{42187196-DE54-46EB-99AD-21C5E2BEFA96}"/>
              </a:ext>
            </a:extLst>
          </p:cNvPr>
          <p:cNvSpPr>
            <a:spLocks xmlns:a="http://schemas.openxmlformats.org/drawingml/2006/main" noGrp="1"/>
          </p:cNvSpPr>
          <p:nvPr/>
        </p:nvSpPr>
        <p:spPr>
          <a:xfrm xmlns:a="http://schemas.openxmlformats.org/drawingml/2006/main">
            <a:off x="0" y="9677400"/>
            <a:ext cx="18288000" cy="609600"/>
          </a:xfrm>
          <a:prstGeom xmlns:a="http://schemas.openxmlformats.org/drawingml/2006/main" prst="rect">
            <a:avLst/>
          </a:prstGeom>
          <a:solidFill xmlns:a="http://schemas.openxmlformats.org/drawingml/2006/main">
            <a:srgbClr val="F3F2F2"/>
          </a:solidFill>
          <a:ln xmlns:a="http://schemas.openxmlformats.org/drawingml/2006/main" w="0">
            <a:noFill/>
            <a:prstDash val="solid"/>
          </a:ln>
        </p:spPr>
      </p:sp>
      <p:pic>
        <p:nvPicPr>
          <p:cNvPr id="52" name="footer.ddb"/>
          <p:cNvPicPr>
            <a:picLocks xmlns:a="http://schemas.openxmlformats.org/drawingml/2006/main" noChangeAspect="1"/>
          </p:cNvPicPr>
          <p:nvPr/>
        </p:nvPicPr>
        <p:blipFill>
          <a:blip xmlns:r="http://schemas.openxmlformats.org/officeDocument/2006/relationships" xmlns:a="http://schemas.openxmlformats.org/drawingml/2006/main" r:embed="R6ef27de34c4f41ba"/>
          <a:stretch xmlns:a="http://schemas.openxmlformats.org/drawingml/2006/main"/>
        </p:blipFill>
        <p:spPr>
          <a:xfrm xmlns:a="http://schemas.openxmlformats.org/drawingml/2006/main">
            <a:off x="382463" y="9848850"/>
            <a:ext cx="511425" cy="266700"/>
          </a:xfrm>
          <a:prstGeom xmlns:a="http://schemas.openxmlformats.org/drawingml/2006/main" prst="rect">
            <a:avLst/>
          </a:prstGeom>
        </p:spPr>
      </p:pic>
      <p:sp>
        <p:nvSpPr>
          <p:cNvPr id="25" name="footer.confidential">
            <a:extLst xmlns:a="http://schemas.openxmlformats.org/drawingml/2006/main">
              <a:ext uri="{FF2B5EF4-FFF2-40B4-BE49-F238E27FC236}">
                <a16:creationId xmlns:a16="http://schemas.microsoft.com/office/drawing/2014/main" id="{366D4C74-29E1-4886-BBCB-B5552A90A674}"/>
              </a:ext>
            </a:extLst>
          </p:cNvPr>
          <p:cNvSpPr>
            <a:spLocks xmlns:a="http://schemas.openxmlformats.org/drawingml/2006/main" noGrp="1"/>
          </p:cNvSpPr>
          <p:nvPr/>
        </p:nvSpPr>
        <p:spPr>
          <a:xfrm xmlns:a="http://schemas.openxmlformats.org/drawingml/2006/main">
            <a:off x="1123950" y="967740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555352"/>
                </a:solidFill>
                <a:latin typeface="Arial"/>
                <a:ea typeface="Arial"/>
                <a:cs typeface="Arial"/>
              </a:defRPr>
            </a:pPr>
            <a:r>
              <a:t>CONFIDENTIAL • PREPARED FOR ONEUTILITY BANK</a:t>
            </a:r>
          </a:p>
        </p:txBody>
      </p:sp>
      <p:sp>
        <p:nvSpPr>
          <p:cNvPr id="26" name="footer.title">
            <a:extLst xmlns:a="http://schemas.openxmlformats.org/drawingml/2006/main">
              <a:ext uri="{FF2B5EF4-FFF2-40B4-BE49-F238E27FC236}">
                <a16:creationId xmlns:a16="http://schemas.microsoft.com/office/drawing/2014/main" id="{DB355E0A-3FD6-4158-BFA2-8EFF8E9C5EA9}"/>
              </a:ext>
            </a:extLst>
          </p:cNvPr>
          <p:cNvSpPr>
            <a:spLocks xmlns:a="http://schemas.openxmlformats.org/drawingml/2006/main" noGrp="1"/>
          </p:cNvSpPr>
          <p:nvPr/>
        </p:nvSpPr>
        <p:spPr>
          <a:xfrm xmlns:a="http://schemas.openxmlformats.org/drawingml/2006/main">
            <a:off x="11582400" y="967740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1">
                <a:solidFill>
                  <a:srgbClr val="201E1D"/>
                </a:solidFill>
                <a:latin typeface="Arial"/>
                <a:ea typeface="Arial"/>
                <a:cs typeface="Arial"/>
              </a:defRPr>
            </a:pPr>
            <a:r>
              <a:t>1U 360 CAMPAIGN PROPOSAL</a:t>
            </a:r>
          </a:p>
        </p:txBody>
      </p:sp>
      <p:sp>
        <p:nvSpPr>
          <p:cNvPr id="27" name="footer.number.bg">
            <a:extLst xmlns:a="http://schemas.openxmlformats.org/drawingml/2006/main">
              <a:ext uri="{FF2B5EF4-FFF2-40B4-BE49-F238E27FC236}">
                <a16:creationId xmlns:a16="http://schemas.microsoft.com/office/drawing/2014/main" id="{F02EA33A-FB50-4D4D-A11F-1272369DDBDD}"/>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sp>
        <p:nvSpPr>
          <p:cNvPr id="28" name="footer.number">
            <a:extLst xmlns:a="http://schemas.openxmlformats.org/drawingml/2006/main">
              <a:ext uri="{FF2B5EF4-FFF2-40B4-BE49-F238E27FC236}">
                <a16:creationId xmlns:a16="http://schemas.microsoft.com/office/drawing/2014/main" id="{B54D9D6A-8890-4085-843D-7C9EBB65C10A}"/>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F3F2F2"/>
                </a:solidFill>
                <a:latin typeface="Arial"/>
                <a:ea typeface="Arial"/>
                <a:cs typeface="Arial"/>
              </a:defRPr>
            </a:pPr>
            <a:r>
              <a:t>4</a:t>
            </a:r>
          </a:p>
        </p:txBody>
      </p:sp>
    </p:spTree>
    <p:extLst>
      <p:ext uri="{BB962C8B-B14F-4D97-AF65-F5344CB8AC3E}">
        <p14:creationId xmlns:p14="http://schemas.microsoft.com/office/powerpoint/2010/main" val="16409972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8" name="slide.bg">
            <a:extLst xmlns:a="http://schemas.openxmlformats.org/drawingml/2006/main">
              <a:ext uri="{FF2B5EF4-FFF2-40B4-BE49-F238E27FC236}">
                <a16:creationId xmlns:a16="http://schemas.microsoft.com/office/drawing/2014/main" id="{9B320BF8-3BDD-4B1C-93ED-0973B3B2261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sp>
        <p:nvSpPr>
          <p:cNvPr id="2" name="response.h2">
            <a:extLst xmlns:a="http://schemas.openxmlformats.org/drawingml/2006/main">
              <a:ext uri="{FF2B5EF4-FFF2-40B4-BE49-F238E27FC236}">
                <a16:creationId xmlns:a16="http://schemas.microsoft.com/office/drawing/2014/main" id="{A49733DC-F05B-4A3F-9F36-115A030DED8F}"/>
              </a:ext>
            </a:extLst>
          </p:cNvPr>
          <p:cNvSpPr>
            <a:spLocks xmlns:a="http://schemas.openxmlformats.org/drawingml/2006/main" noGrp="1"/>
          </p:cNvSpPr>
          <p:nvPr/>
        </p:nvSpPr>
        <p:spPr>
          <a:xfrm xmlns:a="http://schemas.openxmlformats.org/drawingml/2006/main">
            <a:off x="1143000" y="1704975"/>
            <a:ext cx="8382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F3F2F2"/>
                </a:solidFill>
                <a:latin typeface="Arial"/>
                <a:ea typeface="Arial"/>
                <a:cs typeface="Arial"/>
              </a:defRPr>
            </a:pPr>
            <a:r>
              <a:t>The desired response</a:t>
            </a:r>
          </a:p>
        </p:txBody>
      </p:sp>
      <p:sp>
        <p:nvSpPr>
          <p:cNvPr id="3" name="response.h3">
            <a:extLst xmlns:a="http://schemas.openxmlformats.org/drawingml/2006/main">
              <a:ext uri="{FF2B5EF4-FFF2-40B4-BE49-F238E27FC236}">
                <a16:creationId xmlns:a16="http://schemas.microsoft.com/office/drawing/2014/main" id="{C832D672-BF54-4413-AB96-99B283016476}"/>
              </a:ext>
            </a:extLst>
          </p:cNvPr>
          <p:cNvSpPr>
            <a:spLocks xmlns:a="http://schemas.openxmlformats.org/drawingml/2006/main" noGrp="1"/>
          </p:cNvSpPr>
          <p:nvPr/>
        </p:nvSpPr>
        <p:spPr>
          <a:xfrm xmlns:a="http://schemas.openxmlformats.org/drawingml/2006/main">
            <a:off x="1143000" y="2438400"/>
            <a:ext cx="8382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225" b="0">
                <a:solidFill>
                  <a:srgbClr val="B9DDFF"/>
                </a:solidFill>
                <a:latin typeface="Arial"/>
                <a:ea typeface="Arial"/>
                <a:cs typeface="Arial"/>
              </a:defRPr>
            </a:pPr>
            <a:r>
              <a:t>From understanding to habit, in five moves.</a:t>
            </a:r>
          </a:p>
        </p:txBody>
      </p:sp>
      <p:sp>
        <p:nvSpPr>
          <p:cNvPr id="4" name="response.intro">
            <a:extLst xmlns:a="http://schemas.openxmlformats.org/drawingml/2006/main">
              <a:ext uri="{FF2B5EF4-FFF2-40B4-BE49-F238E27FC236}">
                <a16:creationId xmlns:a16="http://schemas.microsoft.com/office/drawing/2014/main" id="{789ADDAD-E31D-4BCA-BB4B-63EB0E2ED338}"/>
              </a:ext>
            </a:extLst>
          </p:cNvPr>
          <p:cNvSpPr>
            <a:spLocks xmlns:a="http://schemas.openxmlformats.org/drawingml/2006/main" noGrp="1"/>
          </p:cNvSpPr>
          <p:nvPr/>
        </p:nvSpPr>
        <p:spPr>
          <a:xfrm xmlns:a="http://schemas.openxmlformats.org/drawingml/2006/main">
            <a:off x="10287000" y="2647950"/>
            <a:ext cx="685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CDD0E7"/>
                </a:solidFill>
                <a:latin typeface="Arial"/>
                <a:ea typeface="Arial"/>
                <a:cs typeface="Arial"/>
              </a:defRPr>
            </a:pPr>
            <a:r>
              <a:t>Expressed in a way that feels human, modern, uncomplicated, trustworthy and distinctly Nigerian.</a:t>
            </a:r>
          </a:p>
        </p:txBody>
      </p:sp>
      <p:sp>
        <p:nvSpPr>
          <p:cNvPr id="5" name="rule">
            <a:extLst xmlns:a="http://schemas.openxmlformats.org/drawingml/2006/main">
              <a:ext uri="{FF2B5EF4-FFF2-40B4-BE49-F238E27FC236}">
                <a16:creationId xmlns:a16="http://schemas.microsoft.com/office/drawing/2014/main" id="{ACFAFCA4-8EF4-4C1B-BA8F-7876ED4DC5E5}"/>
              </a:ext>
            </a:extLst>
          </p:cNvPr>
          <p:cNvSpPr>
            <a:spLocks xmlns:a="http://schemas.openxmlformats.org/drawingml/2006/main" noGrp="1"/>
          </p:cNvSpPr>
          <p:nvPr/>
        </p:nvSpPr>
        <p:spPr>
          <a:xfrm xmlns:a="http://schemas.openxmlformats.org/drawingml/2006/main">
            <a:off x="1143000" y="3524250"/>
            <a:ext cx="16002000" cy="28575"/>
          </a:xfrm>
          <a:prstGeom xmlns:a="http://schemas.openxmlformats.org/drawingml/2006/main" prst="rect">
            <a:avLst/>
          </a:prstGeom>
          <a:solidFill xmlns:a="http://schemas.openxmlformats.org/drawingml/2006/main">
            <a:srgbClr val="F3F2F2"/>
          </a:solidFill>
          <a:ln xmlns:a="http://schemas.openxmlformats.org/drawingml/2006/main" w="0">
            <a:noFill/>
            <a:prstDash val="solid"/>
          </a:ln>
        </p:spPr>
      </p:sp>
      <p:sp>
        <p:nvSpPr>
          <p:cNvPr id="6" name="response.understand.label">
            <a:extLst xmlns:a="http://schemas.openxmlformats.org/drawingml/2006/main">
              <a:ext uri="{FF2B5EF4-FFF2-40B4-BE49-F238E27FC236}">
                <a16:creationId xmlns:a16="http://schemas.microsoft.com/office/drawing/2014/main" id="{757EC729-E0C5-41F5-B9D9-E8A81B43FBD6}"/>
              </a:ext>
            </a:extLst>
          </p:cNvPr>
          <p:cNvSpPr>
            <a:spLocks xmlns:a="http://schemas.openxmlformats.org/drawingml/2006/main" noGrp="1"/>
          </p:cNvSpPr>
          <p:nvPr/>
        </p:nvSpPr>
        <p:spPr>
          <a:xfrm xmlns:a="http://schemas.openxmlformats.org/drawingml/2006/main">
            <a:off x="1143000" y="7010400"/>
            <a:ext cx="3063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9DDFF"/>
                </a:solidFill>
                <a:latin typeface="Arial"/>
                <a:ea typeface="Arial"/>
                <a:cs typeface="Arial"/>
              </a:defRPr>
            </a:pPr>
            <a:r>
              <a:t>UNDERSTAND</a:t>
            </a:r>
          </a:p>
        </p:txBody>
      </p:sp>
      <p:sp>
        <p:nvSpPr>
          <p:cNvPr id="7" name="response.understand.body">
            <a:extLst xmlns:a="http://schemas.openxmlformats.org/drawingml/2006/main">
              <a:ext uri="{FF2B5EF4-FFF2-40B4-BE49-F238E27FC236}">
                <a16:creationId xmlns:a16="http://schemas.microsoft.com/office/drawing/2014/main" id="{7C59AA49-C5B9-4E4E-AACA-9E093A37E89E}"/>
              </a:ext>
            </a:extLst>
          </p:cNvPr>
          <p:cNvSpPr>
            <a:spLocks xmlns:a="http://schemas.openxmlformats.org/drawingml/2006/main" noGrp="1"/>
          </p:cNvSpPr>
          <p:nvPr/>
        </p:nvSpPr>
        <p:spPr>
          <a:xfrm xmlns:a="http://schemas.openxmlformats.org/drawingml/2006/main">
            <a:off x="1143000" y="7343775"/>
            <a:ext cx="306324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3F2F2"/>
                </a:solidFill>
                <a:latin typeface="Arial"/>
                <a:ea typeface="Arial"/>
                <a:cs typeface="Arial"/>
              </a:defRPr>
            </a:pPr>
            <a:r>
              <a:t>1U is a full-service bank built around everyday financial life.</a:t>
            </a:r>
          </a:p>
        </p:txBody>
      </p:sp>
      <p:sp>
        <p:nvSpPr>
          <p:cNvPr id="8" name="response.believe.label">
            <a:extLst xmlns:a="http://schemas.openxmlformats.org/drawingml/2006/main">
              <a:ext uri="{FF2B5EF4-FFF2-40B4-BE49-F238E27FC236}">
                <a16:creationId xmlns:a16="http://schemas.microsoft.com/office/drawing/2014/main" id="{98AC5651-A3F3-4F2B-A509-D37021632490}"/>
              </a:ext>
            </a:extLst>
          </p:cNvPr>
          <p:cNvSpPr>
            <a:spLocks xmlns:a="http://schemas.openxmlformats.org/drawingml/2006/main" noGrp="1"/>
          </p:cNvSpPr>
          <p:nvPr/>
        </p:nvSpPr>
        <p:spPr>
          <a:xfrm xmlns:a="http://schemas.openxmlformats.org/drawingml/2006/main">
            <a:off x="4377690" y="7010400"/>
            <a:ext cx="3063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9DDFF"/>
                </a:solidFill>
                <a:latin typeface="Arial"/>
                <a:ea typeface="Arial"/>
                <a:cs typeface="Arial"/>
              </a:defRPr>
            </a:pPr>
            <a:r>
              <a:t>BELIEVE</a:t>
            </a:r>
          </a:p>
        </p:txBody>
      </p:sp>
      <p:sp>
        <p:nvSpPr>
          <p:cNvPr id="9" name="response.believe.body">
            <a:extLst xmlns:a="http://schemas.openxmlformats.org/drawingml/2006/main">
              <a:ext uri="{FF2B5EF4-FFF2-40B4-BE49-F238E27FC236}">
                <a16:creationId xmlns:a16="http://schemas.microsoft.com/office/drawing/2014/main" id="{4983B1DE-8B41-4837-B89E-9F0448457DFE}"/>
              </a:ext>
            </a:extLst>
          </p:cNvPr>
          <p:cNvSpPr>
            <a:spLocks xmlns:a="http://schemas.openxmlformats.org/drawingml/2006/main" noGrp="1"/>
          </p:cNvSpPr>
          <p:nvPr/>
        </p:nvSpPr>
        <p:spPr>
          <a:xfrm xmlns:a="http://schemas.openxmlformats.org/drawingml/2006/main">
            <a:off x="4377690" y="7343775"/>
            <a:ext cx="306324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3F2F2"/>
                </a:solidFill>
                <a:latin typeface="Arial"/>
                <a:ea typeface="Arial"/>
                <a:cs typeface="Arial"/>
              </a:defRPr>
            </a:pPr>
            <a:r>
              <a:t>The Utility Account removes unnecessary steps safely and reliably.</a:t>
            </a:r>
          </a:p>
        </p:txBody>
      </p:sp>
      <p:sp>
        <p:nvSpPr>
          <p:cNvPr id="10" name="response.feel.label">
            <a:extLst xmlns:a="http://schemas.openxmlformats.org/drawingml/2006/main">
              <a:ext uri="{FF2B5EF4-FFF2-40B4-BE49-F238E27FC236}">
                <a16:creationId xmlns:a16="http://schemas.microsoft.com/office/drawing/2014/main" id="{C41F86F7-C043-4993-9FEA-C8047C6924BD}"/>
              </a:ext>
            </a:extLst>
          </p:cNvPr>
          <p:cNvSpPr>
            <a:spLocks xmlns:a="http://schemas.openxmlformats.org/drawingml/2006/main" noGrp="1"/>
          </p:cNvSpPr>
          <p:nvPr/>
        </p:nvSpPr>
        <p:spPr>
          <a:xfrm xmlns:a="http://schemas.openxmlformats.org/drawingml/2006/main">
            <a:off x="7612380" y="7010400"/>
            <a:ext cx="3063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9DDFF"/>
                </a:solidFill>
                <a:latin typeface="Arial"/>
                <a:ea typeface="Arial"/>
                <a:cs typeface="Arial"/>
              </a:defRPr>
            </a:pPr>
            <a:r>
              <a:t>FEEL</a:t>
            </a:r>
          </a:p>
        </p:txBody>
      </p:sp>
      <p:sp>
        <p:nvSpPr>
          <p:cNvPr id="11" name="response.feel.body">
            <a:extLst xmlns:a="http://schemas.openxmlformats.org/drawingml/2006/main">
              <a:ext uri="{FF2B5EF4-FFF2-40B4-BE49-F238E27FC236}">
                <a16:creationId xmlns:a16="http://schemas.microsoft.com/office/drawing/2014/main" id="{3B59736B-D8BC-4862-AD8D-FED8C4AD3C7B}"/>
              </a:ext>
            </a:extLst>
          </p:cNvPr>
          <p:cNvSpPr>
            <a:spLocks xmlns:a="http://schemas.openxmlformats.org/drawingml/2006/main" noGrp="1"/>
          </p:cNvSpPr>
          <p:nvPr/>
        </p:nvSpPr>
        <p:spPr>
          <a:xfrm xmlns:a="http://schemas.openxmlformats.org/drawingml/2006/main">
            <a:off x="7612380" y="7343775"/>
            <a:ext cx="306324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3F2F2"/>
                </a:solidFill>
                <a:latin typeface="Arial"/>
                <a:ea typeface="Arial"/>
                <a:cs typeface="Arial"/>
              </a:defRPr>
            </a:pPr>
            <a:r>
              <a:t>The bank understands how Nigerians actually live.</a:t>
            </a:r>
          </a:p>
        </p:txBody>
      </p:sp>
      <p:sp>
        <p:nvSpPr>
          <p:cNvPr id="12" name="response.act.label">
            <a:extLst xmlns:a="http://schemas.openxmlformats.org/drawingml/2006/main">
              <a:ext uri="{FF2B5EF4-FFF2-40B4-BE49-F238E27FC236}">
                <a16:creationId xmlns:a16="http://schemas.microsoft.com/office/drawing/2014/main" id="{66E77F6E-3F44-461F-B95E-1D46FC2E2559}"/>
              </a:ext>
            </a:extLst>
          </p:cNvPr>
          <p:cNvSpPr>
            <a:spLocks xmlns:a="http://schemas.openxmlformats.org/drawingml/2006/main" noGrp="1"/>
          </p:cNvSpPr>
          <p:nvPr/>
        </p:nvSpPr>
        <p:spPr>
          <a:xfrm xmlns:a="http://schemas.openxmlformats.org/drawingml/2006/main">
            <a:off x="10847070" y="7010400"/>
            <a:ext cx="3063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9DDFF"/>
                </a:solidFill>
                <a:latin typeface="Arial"/>
                <a:ea typeface="Arial"/>
                <a:cs typeface="Arial"/>
              </a:defRPr>
            </a:pPr>
            <a:r>
              <a:t>ACT</a:t>
            </a:r>
          </a:p>
        </p:txBody>
      </p:sp>
      <p:sp>
        <p:nvSpPr>
          <p:cNvPr id="13" name="response.act.body">
            <a:extLst xmlns:a="http://schemas.openxmlformats.org/drawingml/2006/main">
              <a:ext uri="{FF2B5EF4-FFF2-40B4-BE49-F238E27FC236}">
                <a16:creationId xmlns:a16="http://schemas.microsoft.com/office/drawing/2014/main" id="{EFBC9595-326F-49A3-A974-4BF06EC4D868}"/>
              </a:ext>
            </a:extLst>
          </p:cNvPr>
          <p:cNvSpPr>
            <a:spLocks xmlns:a="http://schemas.openxmlformats.org/drawingml/2006/main" noGrp="1"/>
          </p:cNvSpPr>
          <p:nvPr/>
        </p:nvSpPr>
        <p:spPr>
          <a:xfrm xmlns:a="http://schemas.openxmlformats.org/drawingml/2006/main">
            <a:off x="10847070" y="7343775"/>
            <a:ext cx="306324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3F2F2"/>
                </a:solidFill>
                <a:latin typeface="Arial"/>
                <a:ea typeface="Arial"/>
                <a:cs typeface="Arial"/>
              </a:defRPr>
            </a:pPr>
            <a:r>
              <a:t>Use a Utility Account for a first bill payment.</a:t>
            </a:r>
          </a:p>
        </p:txBody>
      </p:sp>
      <p:sp>
        <p:nvSpPr>
          <p:cNvPr id="14" name="response.continue.underline">
            <a:extLst xmlns:a="http://schemas.openxmlformats.org/drawingml/2006/main">
              <a:ext uri="{FF2B5EF4-FFF2-40B4-BE49-F238E27FC236}">
                <a16:creationId xmlns:a16="http://schemas.microsoft.com/office/drawing/2014/main" id="{133E87D3-3D89-4647-83C9-C4007435F67E}"/>
              </a:ext>
            </a:extLst>
          </p:cNvPr>
          <p:cNvSpPr>
            <a:spLocks xmlns:a="http://schemas.openxmlformats.org/drawingml/2006/main" noGrp="1"/>
          </p:cNvSpPr>
          <p:nvPr/>
        </p:nvSpPr>
        <p:spPr>
          <a:xfrm xmlns:a="http://schemas.openxmlformats.org/drawingml/2006/main">
            <a:off x="14081760" y="6829425"/>
            <a:ext cx="3063240" cy="76200"/>
          </a:xfrm>
          <a:prstGeom xmlns:a="http://schemas.openxmlformats.org/drawingml/2006/main" prst="rect">
            <a:avLst/>
          </a:prstGeom>
          <a:solidFill xmlns:a="http://schemas.openxmlformats.org/drawingml/2006/main">
            <a:srgbClr val="72B7FF"/>
          </a:solidFill>
          <a:ln xmlns:a="http://schemas.openxmlformats.org/drawingml/2006/main" w="0">
            <a:noFill/>
            <a:prstDash val="solid"/>
          </a:ln>
        </p:spPr>
      </p:sp>
      <p:sp>
        <p:nvSpPr>
          <p:cNvPr id="15" name="response.continue.label">
            <a:extLst xmlns:a="http://schemas.openxmlformats.org/drawingml/2006/main">
              <a:ext uri="{FF2B5EF4-FFF2-40B4-BE49-F238E27FC236}">
                <a16:creationId xmlns:a16="http://schemas.microsoft.com/office/drawing/2014/main" id="{B6A0F191-602F-41CF-BFD3-9614BEE5E6A7}"/>
              </a:ext>
            </a:extLst>
          </p:cNvPr>
          <p:cNvSpPr>
            <a:spLocks xmlns:a="http://schemas.openxmlformats.org/drawingml/2006/main" noGrp="1"/>
          </p:cNvSpPr>
          <p:nvPr/>
        </p:nvSpPr>
        <p:spPr>
          <a:xfrm xmlns:a="http://schemas.openxmlformats.org/drawingml/2006/main">
            <a:off x="14081760" y="7010400"/>
            <a:ext cx="3063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9DDFF"/>
                </a:solidFill>
                <a:latin typeface="Arial"/>
                <a:ea typeface="Arial"/>
                <a:cs typeface="Arial"/>
              </a:defRPr>
            </a:pPr>
            <a:r>
              <a:t>CONTINUE</a:t>
            </a:r>
          </a:p>
        </p:txBody>
      </p:sp>
      <p:sp>
        <p:nvSpPr>
          <p:cNvPr id="16" name="response.continue.body">
            <a:extLst xmlns:a="http://schemas.openxmlformats.org/drawingml/2006/main">
              <a:ext uri="{FF2B5EF4-FFF2-40B4-BE49-F238E27FC236}">
                <a16:creationId xmlns:a16="http://schemas.microsoft.com/office/drawing/2014/main" id="{13224D56-88E2-43AD-AAED-CA2969AF31CA}"/>
              </a:ext>
            </a:extLst>
          </p:cNvPr>
          <p:cNvSpPr>
            <a:spLocks xmlns:a="http://schemas.openxmlformats.org/drawingml/2006/main" noGrp="1"/>
          </p:cNvSpPr>
          <p:nvPr/>
        </p:nvSpPr>
        <p:spPr>
          <a:xfrm xmlns:a="http://schemas.openxmlformats.org/drawingml/2006/main">
            <a:off x="14081760" y="7343775"/>
            <a:ext cx="306324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3F2F2"/>
                </a:solidFill>
                <a:latin typeface="Arial"/>
                <a:ea typeface="Arial"/>
                <a:cs typeface="Arial"/>
              </a:defRPr>
            </a:pPr>
            <a:r>
              <a:t>Make 1U part of a regular financial routine.</a:t>
            </a:r>
          </a:p>
        </p:txBody>
      </p:sp>
      <p:pic>
        <p:nvPicPr>
          <p:cNvPr id="44" name="response.believe.photo"/>
          <p:cNvPicPr>
            <a:picLocks xmlns:a="http://schemas.openxmlformats.org/drawingml/2006/main" noChangeAspect="1"/>
          </p:cNvPicPr>
          <p:nvPr/>
        </p:nvPicPr>
        <p:blipFill>
          <a:blip xmlns:r="http://schemas.openxmlformats.org/officeDocument/2006/relationships" xmlns:a="http://schemas.openxmlformats.org/drawingml/2006/main" r:embed="R5b6e7a379f9942cb"/>
          <a:srcRect xmlns:a="http://schemas.openxmlformats.org/drawingml/2006/main" l="0" t="11521" r="0" b="11521"/>
          <a:stretch xmlns:a="http://schemas.openxmlformats.org/drawingml/2006/main">
            <a:fillRect l="0" t="0" r="0" b="0"/>
          </a:stretch>
        </p:blipFill>
        <p:spPr>
          <a:xfrm xmlns:a="http://schemas.openxmlformats.org/drawingml/2006/main">
            <a:off x="4377690" y="3762375"/>
            <a:ext cx="3063240" cy="3143250"/>
          </a:xfrm>
          <a:prstGeom xmlns:a="http://schemas.openxmlformats.org/drawingml/2006/main" prst="rect">
            <a:avLst/>
          </a:prstGeom>
        </p:spPr>
      </p:pic>
      <p:pic>
        <p:nvPicPr>
          <p:cNvPr id="45" name="response.act.photo"/>
          <p:cNvPicPr>
            <a:picLocks xmlns:a="http://schemas.openxmlformats.org/drawingml/2006/main" noChangeAspect="1"/>
          </p:cNvPicPr>
          <p:nvPr/>
        </p:nvPicPr>
        <p:blipFill>
          <a:blip xmlns:r="http://schemas.openxmlformats.org/officeDocument/2006/relationships" xmlns:a="http://schemas.openxmlformats.org/drawingml/2006/main" r:embed="R81aa32679c3d43f1"/>
          <a:srcRect xmlns:a="http://schemas.openxmlformats.org/drawingml/2006/main" l="0" t="11521" r="0" b="11521"/>
          <a:stretch xmlns:a="http://schemas.openxmlformats.org/drawingml/2006/main">
            <a:fillRect l="0" t="0" r="0" b="0"/>
          </a:stretch>
        </p:blipFill>
        <p:spPr>
          <a:xfrm xmlns:a="http://schemas.openxmlformats.org/drawingml/2006/main">
            <a:off x="10847070" y="3762375"/>
            <a:ext cx="3063240" cy="3143250"/>
          </a:xfrm>
          <a:prstGeom xmlns:a="http://schemas.openxmlformats.org/drawingml/2006/main" prst="rect">
            <a:avLst/>
          </a:prstGeom>
        </p:spPr>
      </p:pic>
      <p:pic>
        <p:nvPicPr>
          <p:cNvPr id="46" name="response.feel.photo"/>
          <p:cNvPicPr>
            <a:picLocks xmlns:a="http://schemas.openxmlformats.org/drawingml/2006/main" noChangeAspect="1"/>
          </p:cNvPicPr>
          <p:nvPr/>
        </p:nvPicPr>
        <p:blipFill>
          <a:blip xmlns:r="http://schemas.openxmlformats.org/officeDocument/2006/relationships" xmlns:a="http://schemas.openxmlformats.org/drawingml/2006/main" r:embed="R014102112bdd4b44"/>
          <a:srcRect xmlns:a="http://schemas.openxmlformats.org/drawingml/2006/main" l="0" t="11521" r="0" b="11521"/>
          <a:stretch xmlns:a="http://schemas.openxmlformats.org/drawingml/2006/main">
            <a:fillRect l="0" t="0" r="0" b="0"/>
          </a:stretch>
        </p:blipFill>
        <p:spPr>
          <a:xfrm xmlns:a="http://schemas.openxmlformats.org/drawingml/2006/main">
            <a:off x="7612380" y="3762375"/>
            <a:ext cx="3063240" cy="3143250"/>
          </a:xfrm>
          <a:prstGeom xmlns:a="http://schemas.openxmlformats.org/drawingml/2006/main" prst="rect">
            <a:avLst/>
          </a:prstGeom>
        </p:spPr>
      </p:pic>
      <p:pic>
        <p:nvPicPr>
          <p:cNvPr id="47" name="response.understand.photo"/>
          <p:cNvPicPr>
            <a:picLocks xmlns:a="http://schemas.openxmlformats.org/drawingml/2006/main" noChangeAspect="1"/>
          </p:cNvPicPr>
          <p:nvPr/>
        </p:nvPicPr>
        <p:blipFill>
          <a:blip xmlns:r="http://schemas.openxmlformats.org/officeDocument/2006/relationships" xmlns:a="http://schemas.openxmlformats.org/drawingml/2006/main" r:embed="R7cd13e3560c74b54"/>
          <a:srcRect xmlns:a="http://schemas.openxmlformats.org/drawingml/2006/main" l="0" t="11521" r="0" b="11521"/>
          <a:stretch xmlns:a="http://schemas.openxmlformats.org/drawingml/2006/main">
            <a:fillRect l="0" t="0" r="0" b="0"/>
          </a:stretch>
        </p:blipFill>
        <p:spPr>
          <a:xfrm xmlns:a="http://schemas.openxmlformats.org/drawingml/2006/main">
            <a:off x="1143000" y="3762375"/>
            <a:ext cx="3063240" cy="3143250"/>
          </a:xfrm>
          <a:prstGeom xmlns:a="http://schemas.openxmlformats.org/drawingml/2006/main" prst="rect">
            <a:avLst/>
          </a:prstGeom>
        </p:spPr>
      </p:pic>
      <p:pic>
        <p:nvPicPr>
          <p:cNvPr id="48" name="response.continue.photo"/>
          <p:cNvPicPr>
            <a:picLocks xmlns:a="http://schemas.openxmlformats.org/drawingml/2006/main" noChangeAspect="1"/>
          </p:cNvPicPr>
          <p:nvPr/>
        </p:nvPicPr>
        <p:blipFill>
          <a:blip xmlns:r="http://schemas.openxmlformats.org/officeDocument/2006/relationships" xmlns:a="http://schemas.openxmlformats.org/drawingml/2006/main" r:embed="R0f37d2e190ad47a5"/>
          <a:srcRect xmlns:a="http://schemas.openxmlformats.org/drawingml/2006/main" l="0" t="11521" r="0" b="11521"/>
          <a:stretch xmlns:a="http://schemas.openxmlformats.org/drawingml/2006/main">
            <a:fillRect l="0" t="0" r="0" b="0"/>
          </a:stretch>
        </p:blipFill>
        <p:spPr>
          <a:xfrm xmlns:a="http://schemas.openxmlformats.org/drawingml/2006/main">
            <a:off x="14081760" y="3762375"/>
            <a:ext cx="3063240" cy="3143250"/>
          </a:xfrm>
          <a:prstGeom xmlns:a="http://schemas.openxmlformats.org/drawingml/2006/main" prst="rect">
            <a:avLst/>
          </a:prstGeom>
        </p:spPr>
      </p:pic>
      <p:sp>
        <p:nvSpPr>
          <p:cNvPr id="22" name="footer.bar">
            <a:extLst xmlns:a="http://schemas.openxmlformats.org/drawingml/2006/main">
              <a:ext uri="{FF2B5EF4-FFF2-40B4-BE49-F238E27FC236}">
                <a16:creationId xmlns:a16="http://schemas.microsoft.com/office/drawing/2014/main" id="{83756A2D-3E3B-416C-8052-ABDD1DEFEBBE}"/>
              </a:ext>
            </a:extLst>
          </p:cNvPr>
          <p:cNvSpPr>
            <a:spLocks xmlns:a="http://schemas.openxmlformats.org/drawingml/2006/main" noGrp="1"/>
          </p:cNvSpPr>
          <p:nvPr/>
        </p:nvSpPr>
        <p:spPr>
          <a:xfrm xmlns:a="http://schemas.openxmlformats.org/drawingml/2006/main">
            <a:off x="0" y="9677400"/>
            <a:ext cx="18288000" cy="609600"/>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pic>
        <p:nvPicPr>
          <p:cNvPr id="50" name="footer.ddb"/>
          <p:cNvPicPr>
            <a:picLocks xmlns:a="http://schemas.openxmlformats.org/drawingml/2006/main" noChangeAspect="1"/>
          </p:cNvPicPr>
          <p:nvPr/>
        </p:nvPicPr>
        <p:blipFill>
          <a:blip xmlns:r="http://schemas.openxmlformats.org/officeDocument/2006/relationships" xmlns:a="http://schemas.openxmlformats.org/drawingml/2006/main" r:embed="R09c4f0a0605b41fe"/>
          <a:stretch xmlns:a="http://schemas.openxmlformats.org/drawingml/2006/main"/>
        </p:blipFill>
        <p:spPr>
          <a:xfrm xmlns:a="http://schemas.openxmlformats.org/drawingml/2006/main">
            <a:off x="382463" y="9848850"/>
            <a:ext cx="511425" cy="266700"/>
          </a:xfrm>
          <a:prstGeom xmlns:a="http://schemas.openxmlformats.org/drawingml/2006/main" prst="rect">
            <a:avLst/>
          </a:prstGeom>
        </p:spPr>
      </p:pic>
      <p:sp>
        <p:nvSpPr>
          <p:cNvPr id="24" name="footer.confidential">
            <a:extLst xmlns:a="http://schemas.openxmlformats.org/drawingml/2006/main">
              <a:ext uri="{FF2B5EF4-FFF2-40B4-BE49-F238E27FC236}">
                <a16:creationId xmlns:a16="http://schemas.microsoft.com/office/drawing/2014/main" id="{076B079F-6159-4F28-B8E7-FB0277729943}"/>
              </a:ext>
            </a:extLst>
          </p:cNvPr>
          <p:cNvSpPr>
            <a:spLocks xmlns:a="http://schemas.openxmlformats.org/drawingml/2006/main" noGrp="1"/>
          </p:cNvSpPr>
          <p:nvPr/>
        </p:nvSpPr>
        <p:spPr>
          <a:xfrm xmlns:a="http://schemas.openxmlformats.org/drawingml/2006/main">
            <a:off x="1123950" y="967740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BFC3E3"/>
                </a:solidFill>
                <a:latin typeface="Arial"/>
                <a:ea typeface="Arial"/>
                <a:cs typeface="Arial"/>
              </a:defRPr>
            </a:pPr>
            <a:r>
              <a:t>CONFIDENTIAL • PREPARED FOR ONEUTILITY BANK</a:t>
            </a:r>
          </a:p>
        </p:txBody>
      </p:sp>
      <p:sp>
        <p:nvSpPr>
          <p:cNvPr id="25" name="footer.title">
            <a:extLst xmlns:a="http://schemas.openxmlformats.org/drawingml/2006/main">
              <a:ext uri="{FF2B5EF4-FFF2-40B4-BE49-F238E27FC236}">
                <a16:creationId xmlns:a16="http://schemas.microsoft.com/office/drawing/2014/main" id="{0308913F-70E2-45D0-B7C1-C11566EEF75A}"/>
              </a:ext>
            </a:extLst>
          </p:cNvPr>
          <p:cNvSpPr>
            <a:spLocks xmlns:a="http://schemas.openxmlformats.org/drawingml/2006/main" noGrp="1"/>
          </p:cNvSpPr>
          <p:nvPr/>
        </p:nvSpPr>
        <p:spPr>
          <a:xfrm xmlns:a="http://schemas.openxmlformats.org/drawingml/2006/main">
            <a:off x="11582400" y="967740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1">
                <a:solidFill>
                  <a:srgbClr val="F3F2F2"/>
                </a:solidFill>
                <a:latin typeface="Arial"/>
                <a:ea typeface="Arial"/>
                <a:cs typeface="Arial"/>
              </a:defRPr>
            </a:pPr>
            <a:r>
              <a:t>1U 360 CAMPAIGN PROPOSAL</a:t>
            </a:r>
          </a:p>
        </p:txBody>
      </p:sp>
      <p:sp>
        <p:nvSpPr>
          <p:cNvPr id="26" name="footer.number.bg">
            <a:extLst xmlns:a="http://schemas.openxmlformats.org/drawingml/2006/main">
              <a:ext uri="{FF2B5EF4-FFF2-40B4-BE49-F238E27FC236}">
                <a16:creationId xmlns:a16="http://schemas.microsoft.com/office/drawing/2014/main" id="{6F30DFEC-115E-4885-872C-38AC3F77A5FB}"/>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solidFill xmlns:a="http://schemas.openxmlformats.org/drawingml/2006/main">
            <a:srgbClr val="201E1D"/>
          </a:solidFill>
          <a:ln xmlns:a="http://schemas.openxmlformats.org/drawingml/2006/main" w="0">
            <a:noFill/>
            <a:prstDash val="solid"/>
          </a:ln>
        </p:spPr>
      </p:sp>
      <p:sp>
        <p:nvSpPr>
          <p:cNvPr id="27" name="footer.number">
            <a:extLst xmlns:a="http://schemas.openxmlformats.org/drawingml/2006/main">
              <a:ext uri="{FF2B5EF4-FFF2-40B4-BE49-F238E27FC236}">
                <a16:creationId xmlns:a16="http://schemas.microsoft.com/office/drawing/2014/main" id="{29D1C13D-E92D-459E-AEC2-D359AEEFC755}"/>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F3F2F2"/>
                </a:solidFill>
                <a:latin typeface="Arial"/>
                <a:ea typeface="Arial"/>
                <a:cs typeface="Arial"/>
              </a:defRPr>
            </a:pPr>
            <a:r>
              <a:t>5</a:t>
            </a:r>
          </a:p>
        </p:txBody>
      </p:sp>
    </p:spTree>
    <p:extLst>
      <p:ext uri="{BB962C8B-B14F-4D97-AF65-F5344CB8AC3E}">
        <p14:creationId xmlns:p14="http://schemas.microsoft.com/office/powerpoint/2010/main" val="5721004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1" name="slide.bg">
            <a:extLst xmlns:a="http://schemas.openxmlformats.org/drawingml/2006/main">
              <a:ext uri="{FF2B5EF4-FFF2-40B4-BE49-F238E27FC236}">
                <a16:creationId xmlns:a16="http://schemas.microsoft.com/office/drawing/2014/main" id="{4079F533-6F85-4DB8-B486-161C854F543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3F2F2"/>
          </a:solidFill>
          <a:ln xmlns:a="http://schemas.openxmlformats.org/drawingml/2006/main" w="0">
            <a:noFill/>
            <a:prstDash val="solid"/>
          </a:ln>
        </p:spPr>
      </p:sp>
      <p:sp>
        <p:nvSpPr>
          <p:cNvPr id="2" name="rule">
            <a:extLst xmlns:a="http://schemas.openxmlformats.org/drawingml/2006/main">
              <a:ext uri="{FF2B5EF4-FFF2-40B4-BE49-F238E27FC236}">
                <a16:creationId xmlns:a16="http://schemas.microsoft.com/office/drawing/2014/main" id="{58B827AF-82FF-4D78-8A42-A4F86090DA14}"/>
              </a:ext>
            </a:extLst>
          </p:cNvPr>
          <p:cNvSpPr>
            <a:spLocks xmlns:a="http://schemas.openxmlformats.org/drawingml/2006/main" noGrp="1"/>
          </p:cNvSpPr>
          <p:nvPr/>
        </p:nvSpPr>
        <p:spPr>
          <a:xfrm xmlns:a="http://schemas.openxmlformats.org/drawingml/2006/main">
            <a:off x="1143000" y="1752600"/>
            <a:ext cx="16002000" cy="28575"/>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sp>
        <p:nvSpPr>
          <p:cNvPr id="3" name="questions.1.number">
            <a:extLst xmlns:a="http://schemas.openxmlformats.org/drawingml/2006/main">
              <a:ext uri="{FF2B5EF4-FFF2-40B4-BE49-F238E27FC236}">
                <a16:creationId xmlns:a16="http://schemas.microsoft.com/office/drawing/2014/main" id="{62B54924-1D0C-4572-AF0C-E439434871CB}"/>
              </a:ext>
            </a:extLst>
          </p:cNvPr>
          <p:cNvSpPr>
            <a:spLocks xmlns:a="http://schemas.openxmlformats.org/drawingml/2006/main" noGrp="1"/>
          </p:cNvSpPr>
          <p:nvPr/>
        </p:nvSpPr>
        <p:spPr>
          <a:xfrm xmlns:a="http://schemas.openxmlformats.org/drawingml/2006/main">
            <a:off x="1143000" y="2009775"/>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1.</a:t>
            </a:r>
          </a:p>
        </p:txBody>
      </p:sp>
      <p:sp>
        <p:nvSpPr>
          <p:cNvPr id="4" name="questions.1">
            <a:extLst xmlns:a="http://schemas.openxmlformats.org/drawingml/2006/main">
              <a:ext uri="{FF2B5EF4-FFF2-40B4-BE49-F238E27FC236}">
                <a16:creationId xmlns:a16="http://schemas.microsoft.com/office/drawing/2014/main" id="{702A901E-3B7A-4B41-AA03-189A5530F574}"/>
              </a:ext>
            </a:extLst>
          </p:cNvPr>
          <p:cNvSpPr>
            <a:spLocks xmlns:a="http://schemas.openxmlformats.org/drawingml/2006/main" noGrp="1"/>
          </p:cNvSpPr>
          <p:nvPr/>
        </p:nvSpPr>
        <p:spPr>
          <a:xfrm xmlns:a="http://schemas.openxmlformats.org/drawingml/2006/main">
            <a:off x="1504950" y="2009775"/>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What is 1U's precise regulatory status, and what licensing language should appear in campaign communications?</a:t>
            </a:r>
          </a:p>
        </p:txBody>
      </p:sp>
      <p:sp>
        <p:nvSpPr>
          <p:cNvPr id="5" name="questions.2.number">
            <a:extLst xmlns:a="http://schemas.openxmlformats.org/drawingml/2006/main">
              <a:ext uri="{FF2B5EF4-FFF2-40B4-BE49-F238E27FC236}">
                <a16:creationId xmlns:a16="http://schemas.microsoft.com/office/drawing/2014/main" id="{FC1253E6-CB20-41FB-A3C2-6EBB732CDDBD}"/>
              </a:ext>
            </a:extLst>
          </p:cNvPr>
          <p:cNvSpPr>
            <a:spLocks xmlns:a="http://schemas.openxmlformats.org/drawingml/2006/main" noGrp="1"/>
          </p:cNvSpPr>
          <p:nvPr/>
        </p:nvSpPr>
        <p:spPr>
          <a:xfrm xmlns:a="http://schemas.openxmlformats.org/drawingml/2006/main">
            <a:off x="1143000" y="2647950"/>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2.</a:t>
            </a:r>
          </a:p>
        </p:txBody>
      </p:sp>
      <p:sp>
        <p:nvSpPr>
          <p:cNvPr id="6" name="questions.2">
            <a:extLst xmlns:a="http://schemas.openxmlformats.org/drawingml/2006/main">
              <a:ext uri="{FF2B5EF4-FFF2-40B4-BE49-F238E27FC236}">
                <a16:creationId xmlns:a16="http://schemas.microsoft.com/office/drawing/2014/main" id="{6699BD82-9627-4936-83FA-C4925D7BC902}"/>
              </a:ext>
            </a:extLst>
          </p:cNvPr>
          <p:cNvSpPr>
            <a:spLocks xmlns:a="http://schemas.openxmlformats.org/drawingml/2006/main" noGrp="1"/>
          </p:cNvSpPr>
          <p:nvPr/>
        </p:nvSpPr>
        <p:spPr>
          <a:xfrm xmlns:a="http://schemas.openxmlformats.org/drawingml/2006/main">
            <a:off x="1504950" y="2647950"/>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Have “Africa's first Utility Bank,” “automatically part of our network” and “patented innovation” been legally approved as public claims?</a:t>
            </a:r>
          </a:p>
        </p:txBody>
      </p:sp>
      <p:sp>
        <p:nvSpPr>
          <p:cNvPr id="7" name="questions.3.number">
            <a:extLst xmlns:a="http://schemas.openxmlformats.org/drawingml/2006/main">
              <a:ext uri="{FF2B5EF4-FFF2-40B4-BE49-F238E27FC236}">
                <a16:creationId xmlns:a16="http://schemas.microsoft.com/office/drawing/2014/main" id="{1885FF43-B6D3-4DF3-BE5A-E6F00149DF3F}"/>
              </a:ext>
            </a:extLst>
          </p:cNvPr>
          <p:cNvSpPr>
            <a:spLocks xmlns:a="http://schemas.openxmlformats.org/drawingml/2006/main" noGrp="1"/>
          </p:cNvSpPr>
          <p:nvPr/>
        </p:nvSpPr>
        <p:spPr>
          <a:xfrm xmlns:a="http://schemas.openxmlformats.org/drawingml/2006/main">
            <a:off x="1143000" y="3286125"/>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3.</a:t>
            </a:r>
          </a:p>
        </p:txBody>
      </p:sp>
      <p:sp>
        <p:nvSpPr>
          <p:cNvPr id="8" name="questions.3">
            <a:extLst xmlns:a="http://schemas.openxmlformats.org/drawingml/2006/main">
              <a:ext uri="{FF2B5EF4-FFF2-40B4-BE49-F238E27FC236}">
                <a16:creationId xmlns:a16="http://schemas.microsoft.com/office/drawing/2014/main" id="{E8EA365D-FD48-42FE-AA30-843F892721EE}"/>
              </a:ext>
            </a:extLst>
          </p:cNvPr>
          <p:cNvSpPr>
            <a:spLocks xmlns:a="http://schemas.openxmlformats.org/drawingml/2006/main" noGrp="1"/>
          </p:cNvSpPr>
          <p:nvPr/>
        </p:nvSpPr>
        <p:spPr>
          <a:xfrm xmlns:a="http://schemas.openxmlformats.org/drawingml/2006/main">
            <a:off x="1504950" y="3286125"/>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Which Utility Account functions will be live at launch: airtime, data, electricity, water, television, transport, rent, school fees or others?</a:t>
            </a:r>
          </a:p>
        </p:txBody>
      </p:sp>
      <p:sp>
        <p:nvSpPr>
          <p:cNvPr id="9" name="questions.4.number">
            <a:extLst xmlns:a="http://schemas.openxmlformats.org/drawingml/2006/main">
              <a:ext uri="{FF2B5EF4-FFF2-40B4-BE49-F238E27FC236}">
                <a16:creationId xmlns:a16="http://schemas.microsoft.com/office/drawing/2014/main" id="{EAE61A24-0663-4F69-A47E-399F9EE1750C}"/>
              </a:ext>
            </a:extLst>
          </p:cNvPr>
          <p:cNvSpPr>
            <a:spLocks xmlns:a="http://schemas.openxmlformats.org/drawingml/2006/main" noGrp="1"/>
          </p:cNvSpPr>
          <p:nvPr/>
        </p:nvSpPr>
        <p:spPr>
          <a:xfrm xmlns:a="http://schemas.openxmlformats.org/drawingml/2006/main">
            <a:off x="1143000" y="3924300"/>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4.</a:t>
            </a:r>
          </a:p>
        </p:txBody>
      </p:sp>
      <p:sp>
        <p:nvSpPr>
          <p:cNvPr id="10" name="questions.4">
            <a:extLst xmlns:a="http://schemas.openxmlformats.org/drawingml/2006/main">
              <a:ext uri="{FF2B5EF4-FFF2-40B4-BE49-F238E27FC236}">
                <a16:creationId xmlns:a16="http://schemas.microsoft.com/office/drawing/2014/main" id="{0694E2C1-8219-41F2-B085-85013A6FC8F9}"/>
              </a:ext>
            </a:extLst>
          </p:cNvPr>
          <p:cNvSpPr>
            <a:spLocks xmlns:a="http://schemas.openxmlformats.org/drawingml/2006/main" noGrp="1"/>
          </p:cNvSpPr>
          <p:nvPr/>
        </p:nvSpPr>
        <p:spPr>
          <a:xfrm xmlns:a="http://schemas.openxmlformats.org/drawingml/2006/main">
            <a:off x="1504950" y="3924300"/>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Does every phone number already have a usable Utility Account, or must the owner register and complete KYC before receiving value?</a:t>
            </a:r>
          </a:p>
        </p:txBody>
      </p:sp>
      <p:sp>
        <p:nvSpPr>
          <p:cNvPr id="11" name="questions.5.number">
            <a:extLst xmlns:a="http://schemas.openxmlformats.org/drawingml/2006/main">
              <a:ext uri="{FF2B5EF4-FFF2-40B4-BE49-F238E27FC236}">
                <a16:creationId xmlns:a16="http://schemas.microsoft.com/office/drawing/2014/main" id="{3DE8856A-D003-4A45-A1DF-801BEF0F7D46}"/>
              </a:ext>
            </a:extLst>
          </p:cNvPr>
          <p:cNvSpPr>
            <a:spLocks xmlns:a="http://schemas.openxmlformats.org/drawingml/2006/main" noGrp="1"/>
          </p:cNvSpPr>
          <p:nvPr/>
        </p:nvSpPr>
        <p:spPr>
          <a:xfrm xmlns:a="http://schemas.openxmlformats.org/drawingml/2006/main">
            <a:off x="1143000" y="4562475"/>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5.</a:t>
            </a:r>
          </a:p>
        </p:txBody>
      </p:sp>
      <p:sp>
        <p:nvSpPr>
          <p:cNvPr id="12" name="questions.5">
            <a:extLst xmlns:a="http://schemas.openxmlformats.org/drawingml/2006/main">
              <a:ext uri="{FF2B5EF4-FFF2-40B4-BE49-F238E27FC236}">
                <a16:creationId xmlns:a16="http://schemas.microsoft.com/office/drawing/2014/main" id="{C9F4193F-B9DA-437E-A88A-93C015168AC5}"/>
              </a:ext>
            </a:extLst>
          </p:cNvPr>
          <p:cNvSpPr>
            <a:spLocks xmlns:a="http://schemas.openxmlformats.org/drawingml/2006/main" noGrp="1"/>
          </p:cNvSpPr>
          <p:nvPr/>
        </p:nvSpPr>
        <p:spPr>
          <a:xfrm xmlns:a="http://schemas.openxmlformats.org/drawingml/2006/main">
            <a:off x="1504950" y="4562475"/>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What happens when money is sent to a phone number belonging to someone who has not registered with 1U?</a:t>
            </a:r>
          </a:p>
        </p:txBody>
      </p:sp>
      <p:sp>
        <p:nvSpPr>
          <p:cNvPr id="13" name="questions.6.number">
            <a:extLst xmlns:a="http://schemas.openxmlformats.org/drawingml/2006/main">
              <a:ext uri="{FF2B5EF4-FFF2-40B4-BE49-F238E27FC236}">
                <a16:creationId xmlns:a16="http://schemas.microsoft.com/office/drawing/2014/main" id="{728CC74E-5E45-47FC-8BCF-432BFBD8C998}"/>
              </a:ext>
            </a:extLst>
          </p:cNvPr>
          <p:cNvSpPr>
            <a:spLocks xmlns:a="http://schemas.openxmlformats.org/drawingml/2006/main" noGrp="1"/>
          </p:cNvSpPr>
          <p:nvPr/>
        </p:nvSpPr>
        <p:spPr>
          <a:xfrm xmlns:a="http://schemas.openxmlformats.org/drawingml/2006/main">
            <a:off x="1143000" y="5200650"/>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6.</a:t>
            </a:r>
          </a:p>
        </p:txBody>
      </p:sp>
      <p:sp>
        <p:nvSpPr>
          <p:cNvPr id="14" name="questions.6">
            <a:extLst xmlns:a="http://schemas.openxmlformats.org/drawingml/2006/main">
              <a:ext uri="{FF2B5EF4-FFF2-40B4-BE49-F238E27FC236}">
                <a16:creationId xmlns:a16="http://schemas.microsoft.com/office/drawing/2014/main" id="{095DB942-0702-482B-BCAB-B637FB4A9775}"/>
              </a:ext>
            </a:extLst>
          </p:cNvPr>
          <p:cNvSpPr>
            <a:spLocks xmlns:a="http://schemas.openxmlformats.org/drawingml/2006/main" noGrp="1"/>
          </p:cNvSpPr>
          <p:nvPr/>
        </p:nvSpPr>
        <p:spPr>
          <a:xfrm xmlns:a="http://schemas.openxmlformats.org/drawingml/2006/main">
            <a:off x="1504950" y="5200650"/>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What is the priority conversion event: account registration, completed KYC, first deposit or first utility payment?</a:t>
            </a:r>
          </a:p>
        </p:txBody>
      </p:sp>
      <p:sp>
        <p:nvSpPr>
          <p:cNvPr id="15" name="questions.7.number">
            <a:extLst xmlns:a="http://schemas.openxmlformats.org/drawingml/2006/main">
              <a:ext uri="{FF2B5EF4-FFF2-40B4-BE49-F238E27FC236}">
                <a16:creationId xmlns:a16="http://schemas.microsoft.com/office/drawing/2014/main" id="{A6941557-FFD5-4F4A-AE0D-39470DBFD57E}"/>
              </a:ext>
            </a:extLst>
          </p:cNvPr>
          <p:cNvSpPr>
            <a:spLocks xmlns:a="http://schemas.openxmlformats.org/drawingml/2006/main" noGrp="1"/>
          </p:cNvSpPr>
          <p:nvPr/>
        </p:nvSpPr>
        <p:spPr>
          <a:xfrm xmlns:a="http://schemas.openxmlformats.org/drawingml/2006/main">
            <a:off x="1143000" y="5838825"/>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7.</a:t>
            </a:r>
          </a:p>
        </p:txBody>
      </p:sp>
      <p:sp>
        <p:nvSpPr>
          <p:cNvPr id="16" name="questions.7">
            <a:extLst xmlns:a="http://schemas.openxmlformats.org/drawingml/2006/main">
              <a:ext uri="{FF2B5EF4-FFF2-40B4-BE49-F238E27FC236}">
                <a16:creationId xmlns:a16="http://schemas.microsoft.com/office/drawing/2014/main" id="{4BF54120-48B5-445B-8D3A-023181B1B5AC}"/>
              </a:ext>
            </a:extLst>
          </p:cNvPr>
          <p:cNvSpPr>
            <a:spLocks xmlns:a="http://schemas.openxmlformats.org/drawingml/2006/main" noGrp="1"/>
          </p:cNvSpPr>
          <p:nvPr/>
        </p:nvSpPr>
        <p:spPr>
          <a:xfrm xmlns:a="http://schemas.openxmlformats.org/drawingml/2006/main">
            <a:off x="1504950" y="5838825"/>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Which audience should lead the launch? The current target definition covers several groups with different needs and motivations.</a:t>
            </a:r>
          </a:p>
        </p:txBody>
      </p:sp>
      <p:sp>
        <p:nvSpPr>
          <p:cNvPr id="17" name="questions.8.number">
            <a:extLst xmlns:a="http://schemas.openxmlformats.org/drawingml/2006/main">
              <a:ext uri="{FF2B5EF4-FFF2-40B4-BE49-F238E27FC236}">
                <a16:creationId xmlns:a16="http://schemas.microsoft.com/office/drawing/2014/main" id="{E22418EE-2B8C-429B-8CE3-E05244887C9F}"/>
              </a:ext>
            </a:extLst>
          </p:cNvPr>
          <p:cNvSpPr>
            <a:spLocks xmlns:a="http://schemas.openxmlformats.org/drawingml/2006/main" noGrp="1"/>
          </p:cNvSpPr>
          <p:nvPr/>
        </p:nvSpPr>
        <p:spPr>
          <a:xfrm xmlns:a="http://schemas.openxmlformats.org/drawingml/2006/main">
            <a:off x="1143000" y="6477000"/>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8.</a:t>
            </a:r>
          </a:p>
        </p:txBody>
      </p:sp>
      <p:sp>
        <p:nvSpPr>
          <p:cNvPr id="18" name="questions.8">
            <a:extLst xmlns:a="http://schemas.openxmlformats.org/drawingml/2006/main">
              <a:ext uri="{FF2B5EF4-FFF2-40B4-BE49-F238E27FC236}">
                <a16:creationId xmlns:a16="http://schemas.microsoft.com/office/drawing/2014/main" id="{16AF8664-2749-4100-84EC-D3D92AE80575}"/>
              </a:ext>
            </a:extLst>
          </p:cNvPr>
          <p:cNvSpPr>
            <a:spLocks xmlns:a="http://schemas.openxmlformats.org/drawingml/2006/main" noGrp="1"/>
          </p:cNvSpPr>
          <p:nvPr/>
        </p:nvSpPr>
        <p:spPr>
          <a:xfrm xmlns:a="http://schemas.openxmlformats.org/drawingml/2006/main">
            <a:off x="1504950" y="6477000"/>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Is the campaign launching nationally or in selected Nigerian states and cities first?</a:t>
            </a:r>
          </a:p>
        </p:txBody>
      </p:sp>
      <p:sp>
        <p:nvSpPr>
          <p:cNvPr id="19" name="questions.9.number">
            <a:extLst xmlns:a="http://schemas.openxmlformats.org/drawingml/2006/main">
              <a:ext uri="{FF2B5EF4-FFF2-40B4-BE49-F238E27FC236}">
                <a16:creationId xmlns:a16="http://schemas.microsoft.com/office/drawing/2014/main" id="{251FAF2F-6499-4B3B-BB37-2FA4DB395C0F}"/>
              </a:ext>
            </a:extLst>
          </p:cNvPr>
          <p:cNvSpPr>
            <a:spLocks xmlns:a="http://schemas.openxmlformats.org/drawingml/2006/main" noGrp="1"/>
          </p:cNvSpPr>
          <p:nvPr/>
        </p:nvSpPr>
        <p:spPr>
          <a:xfrm xmlns:a="http://schemas.openxmlformats.org/drawingml/2006/main">
            <a:off x="9486900" y="2009775"/>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9.</a:t>
            </a:r>
          </a:p>
        </p:txBody>
      </p:sp>
      <p:sp>
        <p:nvSpPr>
          <p:cNvPr id="20" name="questions.9">
            <a:extLst xmlns:a="http://schemas.openxmlformats.org/drawingml/2006/main">
              <a:ext uri="{FF2B5EF4-FFF2-40B4-BE49-F238E27FC236}">
                <a16:creationId xmlns:a16="http://schemas.microsoft.com/office/drawing/2014/main" id="{CF96C15C-0FFB-455D-99FA-8E94A8F45156}"/>
              </a:ext>
            </a:extLst>
          </p:cNvPr>
          <p:cNvSpPr>
            <a:spLocks xmlns:a="http://schemas.openxmlformats.org/drawingml/2006/main" noGrp="1"/>
          </p:cNvSpPr>
          <p:nvPr/>
        </p:nvSpPr>
        <p:spPr>
          <a:xfrm xmlns:a="http://schemas.openxmlformats.org/drawingml/2006/main">
            <a:off x="9848850" y="2009775"/>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Which product should lead communications after Utility Banking: personal banking, business banking, savings, investments or utility financing?</a:t>
            </a:r>
          </a:p>
        </p:txBody>
      </p:sp>
      <p:sp>
        <p:nvSpPr>
          <p:cNvPr id="21" name="questions.10.number">
            <a:extLst xmlns:a="http://schemas.openxmlformats.org/drawingml/2006/main">
              <a:ext uri="{FF2B5EF4-FFF2-40B4-BE49-F238E27FC236}">
                <a16:creationId xmlns:a16="http://schemas.microsoft.com/office/drawing/2014/main" id="{0B09EDBB-FD1A-4105-BE77-44BCCD142196}"/>
              </a:ext>
            </a:extLst>
          </p:cNvPr>
          <p:cNvSpPr>
            <a:spLocks xmlns:a="http://schemas.openxmlformats.org/drawingml/2006/main" noGrp="1"/>
          </p:cNvSpPr>
          <p:nvPr/>
        </p:nvSpPr>
        <p:spPr>
          <a:xfrm xmlns:a="http://schemas.openxmlformats.org/drawingml/2006/main">
            <a:off x="9486900" y="2647950"/>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10.</a:t>
            </a:r>
          </a:p>
        </p:txBody>
      </p:sp>
      <p:sp>
        <p:nvSpPr>
          <p:cNvPr id="22" name="questions.10">
            <a:extLst xmlns:a="http://schemas.openxmlformats.org/drawingml/2006/main">
              <a:ext uri="{FF2B5EF4-FFF2-40B4-BE49-F238E27FC236}">
                <a16:creationId xmlns:a16="http://schemas.microsoft.com/office/drawing/2014/main" id="{805F6880-F5E7-4901-8837-A3B3FD4192E8}"/>
              </a:ext>
            </a:extLst>
          </p:cNvPr>
          <p:cNvSpPr>
            <a:spLocks xmlns:a="http://schemas.openxmlformats.org/drawingml/2006/main" noGrp="1"/>
          </p:cNvSpPr>
          <p:nvPr/>
        </p:nvSpPr>
        <p:spPr>
          <a:xfrm xmlns:a="http://schemas.openxmlformats.org/drawingml/2006/main">
            <a:off x="9848850" y="2647950"/>
            <a:ext cx="7296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What evidence can substantiate trust at launch: transaction success rates, security certifications, reversal policies, service guarantees or banking partnerships?</a:t>
            </a:r>
          </a:p>
        </p:txBody>
      </p:sp>
      <p:sp>
        <p:nvSpPr>
          <p:cNvPr id="23" name="questions.11.number">
            <a:extLst xmlns:a="http://schemas.openxmlformats.org/drawingml/2006/main">
              <a:ext uri="{FF2B5EF4-FFF2-40B4-BE49-F238E27FC236}">
                <a16:creationId xmlns:a16="http://schemas.microsoft.com/office/drawing/2014/main" id="{4F5DA51B-7E3E-4267-907B-9C3528DD923C}"/>
              </a:ext>
            </a:extLst>
          </p:cNvPr>
          <p:cNvSpPr>
            <a:spLocks xmlns:a="http://schemas.openxmlformats.org/drawingml/2006/main" noGrp="1"/>
          </p:cNvSpPr>
          <p:nvPr/>
        </p:nvSpPr>
        <p:spPr>
          <a:xfrm xmlns:a="http://schemas.openxmlformats.org/drawingml/2006/main">
            <a:off x="9486900" y="3543300"/>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11.</a:t>
            </a:r>
          </a:p>
        </p:txBody>
      </p:sp>
      <p:sp>
        <p:nvSpPr>
          <p:cNvPr id="24" name="questions.11">
            <a:extLst xmlns:a="http://schemas.openxmlformats.org/drawingml/2006/main">
              <a:ext uri="{FF2B5EF4-FFF2-40B4-BE49-F238E27FC236}">
                <a16:creationId xmlns:a16="http://schemas.microsoft.com/office/drawing/2014/main" id="{5AEEF381-27C1-424E-88DA-5238EEE1B3E9}"/>
              </a:ext>
            </a:extLst>
          </p:cNvPr>
          <p:cNvSpPr>
            <a:spLocks xmlns:a="http://schemas.openxmlformats.org/drawingml/2006/main" noGrp="1"/>
          </p:cNvSpPr>
          <p:nvPr/>
        </p:nvSpPr>
        <p:spPr>
          <a:xfrm xmlns:a="http://schemas.openxmlformats.org/drawingml/2006/main">
            <a:off x="9848850" y="3543300"/>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What customer support and dispute resolution systems will be available when a utility payment fails or is delayed?</a:t>
            </a:r>
          </a:p>
        </p:txBody>
      </p:sp>
      <p:sp>
        <p:nvSpPr>
          <p:cNvPr id="25" name="questions.12.number">
            <a:extLst xmlns:a="http://schemas.openxmlformats.org/drawingml/2006/main">
              <a:ext uri="{FF2B5EF4-FFF2-40B4-BE49-F238E27FC236}">
                <a16:creationId xmlns:a16="http://schemas.microsoft.com/office/drawing/2014/main" id="{4FA5CB99-C64D-4D3D-9643-ED27A960C621}"/>
              </a:ext>
            </a:extLst>
          </p:cNvPr>
          <p:cNvSpPr>
            <a:spLocks xmlns:a="http://schemas.openxmlformats.org/drawingml/2006/main" noGrp="1"/>
          </p:cNvSpPr>
          <p:nvPr/>
        </p:nvSpPr>
        <p:spPr>
          <a:xfrm xmlns:a="http://schemas.openxmlformats.org/drawingml/2006/main">
            <a:off x="9486900" y="4181475"/>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12.</a:t>
            </a:r>
          </a:p>
        </p:txBody>
      </p:sp>
      <p:sp>
        <p:nvSpPr>
          <p:cNvPr id="26" name="questions.12">
            <a:extLst xmlns:a="http://schemas.openxmlformats.org/drawingml/2006/main">
              <a:ext uri="{FF2B5EF4-FFF2-40B4-BE49-F238E27FC236}">
                <a16:creationId xmlns:a16="http://schemas.microsoft.com/office/drawing/2014/main" id="{5E48E59C-0827-4750-8245-C83620B4A23E}"/>
              </a:ext>
            </a:extLst>
          </p:cNvPr>
          <p:cNvSpPr>
            <a:spLocks xmlns:a="http://schemas.openxmlformats.org/drawingml/2006/main" noGrp="1"/>
          </p:cNvSpPr>
          <p:nvPr/>
        </p:nvSpPr>
        <p:spPr>
          <a:xfrm xmlns:a="http://schemas.openxmlformats.org/drawingml/2006/main">
            <a:off x="9848850" y="4181475"/>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Are there approved launch offers, cashback, referral rewards or transaction incentives?</a:t>
            </a:r>
          </a:p>
        </p:txBody>
      </p:sp>
      <p:sp>
        <p:nvSpPr>
          <p:cNvPr id="27" name="questions.13.number">
            <a:extLst xmlns:a="http://schemas.openxmlformats.org/drawingml/2006/main">
              <a:ext uri="{FF2B5EF4-FFF2-40B4-BE49-F238E27FC236}">
                <a16:creationId xmlns:a16="http://schemas.microsoft.com/office/drawing/2014/main" id="{D8266A10-2312-479B-A621-4726DEDB4F2E}"/>
              </a:ext>
            </a:extLst>
          </p:cNvPr>
          <p:cNvSpPr>
            <a:spLocks xmlns:a="http://schemas.openxmlformats.org/drawingml/2006/main" noGrp="1"/>
          </p:cNvSpPr>
          <p:nvPr/>
        </p:nvSpPr>
        <p:spPr>
          <a:xfrm xmlns:a="http://schemas.openxmlformats.org/drawingml/2006/main">
            <a:off x="9486900" y="4819650"/>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13.</a:t>
            </a:r>
          </a:p>
        </p:txBody>
      </p:sp>
      <p:sp>
        <p:nvSpPr>
          <p:cNvPr id="28" name="questions.13">
            <a:extLst xmlns:a="http://schemas.openxmlformats.org/drawingml/2006/main">
              <a:ext uri="{FF2B5EF4-FFF2-40B4-BE49-F238E27FC236}">
                <a16:creationId xmlns:a16="http://schemas.microsoft.com/office/drawing/2014/main" id="{B7945FED-6A08-4BF7-844B-B9F024C52C03}"/>
              </a:ext>
            </a:extLst>
          </p:cNvPr>
          <p:cNvSpPr>
            <a:spLocks xmlns:a="http://schemas.openxmlformats.org/drawingml/2006/main" noGrp="1"/>
          </p:cNvSpPr>
          <p:nvPr/>
        </p:nvSpPr>
        <p:spPr>
          <a:xfrm xmlns:a="http://schemas.openxmlformats.org/drawingml/2006/main">
            <a:off x="9848850" y="4819650"/>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What media and production budget should guide the proposed campaign scale?</a:t>
            </a:r>
          </a:p>
        </p:txBody>
      </p:sp>
      <p:sp>
        <p:nvSpPr>
          <p:cNvPr id="29" name="questions.14.number">
            <a:extLst xmlns:a="http://schemas.openxmlformats.org/drawingml/2006/main">
              <a:ext uri="{FF2B5EF4-FFF2-40B4-BE49-F238E27FC236}">
                <a16:creationId xmlns:a16="http://schemas.microsoft.com/office/drawing/2014/main" id="{6AF90A2C-527F-44CE-821D-87F25CBB6E32}"/>
              </a:ext>
            </a:extLst>
          </p:cNvPr>
          <p:cNvSpPr>
            <a:spLocks xmlns:a="http://schemas.openxmlformats.org/drawingml/2006/main" noGrp="1"/>
          </p:cNvSpPr>
          <p:nvPr/>
        </p:nvSpPr>
        <p:spPr>
          <a:xfrm xmlns:a="http://schemas.openxmlformats.org/drawingml/2006/main">
            <a:off x="9486900" y="5457825"/>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14.</a:t>
            </a:r>
          </a:p>
        </p:txBody>
      </p:sp>
      <p:sp>
        <p:nvSpPr>
          <p:cNvPr id="30" name="questions.14">
            <a:extLst xmlns:a="http://schemas.openxmlformats.org/drawingml/2006/main">
              <a:ext uri="{FF2B5EF4-FFF2-40B4-BE49-F238E27FC236}">
                <a16:creationId xmlns:a16="http://schemas.microsoft.com/office/drawing/2014/main" id="{D6BB125B-B1BD-4E66-988F-AA47F9F91126}"/>
              </a:ext>
            </a:extLst>
          </p:cNvPr>
          <p:cNvSpPr>
            <a:spLocks xmlns:a="http://schemas.openxmlformats.org/drawingml/2006/main" noGrp="1"/>
          </p:cNvSpPr>
          <p:nvPr/>
        </p:nvSpPr>
        <p:spPr>
          <a:xfrm xmlns:a="http://schemas.openxmlformats.org/drawingml/2006/main">
            <a:off x="9848850" y="5457825"/>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What are the confirmed launch date, campaign duration and product readiness milestones?</a:t>
            </a:r>
          </a:p>
        </p:txBody>
      </p:sp>
      <p:sp>
        <p:nvSpPr>
          <p:cNvPr id="31" name="questions.15.number">
            <a:extLst xmlns:a="http://schemas.openxmlformats.org/drawingml/2006/main">
              <a:ext uri="{FF2B5EF4-FFF2-40B4-BE49-F238E27FC236}">
                <a16:creationId xmlns:a16="http://schemas.microsoft.com/office/drawing/2014/main" id="{8FCBF722-EB2A-4488-BF22-85D1F1EA6472}"/>
              </a:ext>
            </a:extLst>
          </p:cNvPr>
          <p:cNvSpPr>
            <a:spLocks xmlns:a="http://schemas.openxmlformats.org/drawingml/2006/main" noGrp="1"/>
          </p:cNvSpPr>
          <p:nvPr/>
        </p:nvSpPr>
        <p:spPr>
          <a:xfrm xmlns:a="http://schemas.openxmlformats.org/drawingml/2006/main">
            <a:off x="9486900" y="6096000"/>
            <a:ext cx="361950" cy="2600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15.</a:t>
            </a:r>
          </a:p>
        </p:txBody>
      </p:sp>
      <p:sp>
        <p:nvSpPr>
          <p:cNvPr id="32" name="questions.15">
            <a:extLst xmlns:a="http://schemas.openxmlformats.org/drawingml/2006/main">
              <a:ext uri="{FF2B5EF4-FFF2-40B4-BE49-F238E27FC236}">
                <a16:creationId xmlns:a16="http://schemas.microsoft.com/office/drawing/2014/main" id="{D8AEEC2C-5A22-40A4-8B84-A67F2A39F9FD}"/>
              </a:ext>
            </a:extLst>
          </p:cNvPr>
          <p:cNvSpPr>
            <a:spLocks xmlns:a="http://schemas.openxmlformats.org/drawingml/2006/main" noGrp="1"/>
          </p:cNvSpPr>
          <p:nvPr/>
        </p:nvSpPr>
        <p:spPr>
          <a:xfrm xmlns:a="http://schemas.openxmlformats.org/drawingml/2006/main">
            <a:off x="9848850" y="6096000"/>
            <a:ext cx="7296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201E1D"/>
                </a:solidFill>
                <a:latin typeface="Arial"/>
                <a:ea typeface="Arial"/>
                <a:cs typeface="Arial"/>
              </a:defRPr>
            </a:pPr>
            <a:r>
              <a:t>Which brand assets, tone of voice rules and mandatory legal disclaimers will agencies receive?</a:t>
            </a:r>
          </a:p>
        </p:txBody>
      </p:sp>
      <p:sp>
        <p:nvSpPr>
          <p:cNvPr id="33" name="questions.h2">
            <a:extLst xmlns:a="http://schemas.openxmlformats.org/drawingml/2006/main">
              <a:ext uri="{FF2B5EF4-FFF2-40B4-BE49-F238E27FC236}">
                <a16:creationId xmlns:a16="http://schemas.microsoft.com/office/drawing/2014/main" id="{6421D7CE-F869-434D-A641-93591A797838}"/>
              </a:ext>
            </a:extLst>
          </p:cNvPr>
          <p:cNvSpPr>
            <a:spLocks xmlns:a="http://schemas.openxmlformats.org/drawingml/2006/main" noGrp="1"/>
          </p:cNvSpPr>
          <p:nvPr/>
        </p:nvSpPr>
        <p:spPr>
          <a:xfrm xmlns:a="http://schemas.openxmlformats.org/drawingml/2006/main">
            <a:off x="1143000" y="533400"/>
            <a:ext cx="16002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650" b="1">
                <a:solidFill>
                  <a:srgbClr val="201E1D"/>
                </a:solidFill>
                <a:latin typeface="Arial"/>
                <a:ea typeface="Arial"/>
                <a:cs typeface="Arial"/>
              </a:defRPr>
            </a:pPr>
            <a:r>
              <a:t>Questions for alignment</a:t>
            </a:r>
          </a:p>
        </p:txBody>
      </p:sp>
      <p:sp>
        <p:nvSpPr>
          <p:cNvPr id="34" name="questions.sub">
            <a:extLst xmlns:a="http://schemas.openxmlformats.org/drawingml/2006/main">
              <a:ext uri="{FF2B5EF4-FFF2-40B4-BE49-F238E27FC236}">
                <a16:creationId xmlns:a16="http://schemas.microsoft.com/office/drawing/2014/main" id="{2A99D0E5-C5CF-4ABA-9944-3DD033512474}"/>
              </a:ext>
            </a:extLst>
          </p:cNvPr>
          <p:cNvSpPr>
            <a:spLocks xmlns:a="http://schemas.openxmlformats.org/drawingml/2006/main" noGrp="1"/>
          </p:cNvSpPr>
          <p:nvPr/>
        </p:nvSpPr>
        <p:spPr>
          <a:xfrm xmlns:a="http://schemas.openxmlformats.org/drawingml/2006/main">
            <a:off x="1143000" y="1209675"/>
            <a:ext cx="1600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5F5E5D"/>
                </a:solidFill>
                <a:latin typeface="Arial"/>
                <a:ea typeface="Arial"/>
                <a:cs typeface="Arial"/>
              </a:defRPr>
            </a:pPr>
            <a:r>
              <a:t>What we need to know before we finalise the plan.</a:t>
            </a:r>
          </a:p>
        </p:txBody>
      </p:sp>
      <p:sp>
        <p:nvSpPr>
          <p:cNvPr id="35" name="footer.bar">
            <a:extLst xmlns:a="http://schemas.openxmlformats.org/drawingml/2006/main">
              <a:ext uri="{FF2B5EF4-FFF2-40B4-BE49-F238E27FC236}">
                <a16:creationId xmlns:a16="http://schemas.microsoft.com/office/drawing/2014/main" id="{B29EB5DA-83A5-4F10-BB5D-920D23F4F87D}"/>
              </a:ext>
            </a:extLst>
          </p:cNvPr>
          <p:cNvSpPr>
            <a:spLocks xmlns:a="http://schemas.openxmlformats.org/drawingml/2006/main" noGrp="1"/>
          </p:cNvSpPr>
          <p:nvPr/>
        </p:nvSpPr>
        <p:spPr>
          <a:xfrm xmlns:a="http://schemas.openxmlformats.org/drawingml/2006/main">
            <a:off x="0" y="9677400"/>
            <a:ext cx="18288000" cy="609600"/>
          </a:xfrm>
          <a:prstGeom xmlns:a="http://schemas.openxmlformats.org/drawingml/2006/main" prst="rect">
            <a:avLst/>
          </a:prstGeom>
          <a:solidFill xmlns:a="http://schemas.openxmlformats.org/drawingml/2006/main">
            <a:srgbClr val="F3F2F2"/>
          </a:solidFill>
          <a:ln xmlns:a="http://schemas.openxmlformats.org/drawingml/2006/main" w="0">
            <a:noFill/>
            <a:prstDash val="solid"/>
          </a:ln>
        </p:spPr>
      </p:sp>
      <p:pic>
        <p:nvPicPr>
          <p:cNvPr id="76" name="footer.ddb"/>
          <p:cNvPicPr>
            <a:picLocks xmlns:a="http://schemas.openxmlformats.org/drawingml/2006/main" noChangeAspect="1"/>
          </p:cNvPicPr>
          <p:nvPr/>
        </p:nvPicPr>
        <p:blipFill>
          <a:blip xmlns:r="http://schemas.openxmlformats.org/officeDocument/2006/relationships" xmlns:a="http://schemas.openxmlformats.org/drawingml/2006/main" r:embed="R8a93c6602e994226"/>
          <a:stretch xmlns:a="http://schemas.openxmlformats.org/drawingml/2006/main"/>
        </p:blipFill>
        <p:spPr>
          <a:xfrm xmlns:a="http://schemas.openxmlformats.org/drawingml/2006/main">
            <a:off x="382463" y="9848850"/>
            <a:ext cx="511425" cy="266700"/>
          </a:xfrm>
          <a:prstGeom xmlns:a="http://schemas.openxmlformats.org/drawingml/2006/main" prst="rect">
            <a:avLst/>
          </a:prstGeom>
        </p:spPr>
      </p:pic>
      <p:sp>
        <p:nvSpPr>
          <p:cNvPr id="37" name="footer.confidential">
            <a:extLst xmlns:a="http://schemas.openxmlformats.org/drawingml/2006/main">
              <a:ext uri="{FF2B5EF4-FFF2-40B4-BE49-F238E27FC236}">
                <a16:creationId xmlns:a16="http://schemas.microsoft.com/office/drawing/2014/main" id="{A1314417-5399-448C-AF0A-C111DF4E5A89}"/>
              </a:ext>
            </a:extLst>
          </p:cNvPr>
          <p:cNvSpPr>
            <a:spLocks xmlns:a="http://schemas.openxmlformats.org/drawingml/2006/main" noGrp="1"/>
          </p:cNvSpPr>
          <p:nvPr/>
        </p:nvSpPr>
        <p:spPr>
          <a:xfrm xmlns:a="http://schemas.openxmlformats.org/drawingml/2006/main">
            <a:off x="1123950" y="967740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555352"/>
                </a:solidFill>
                <a:latin typeface="Arial"/>
                <a:ea typeface="Arial"/>
                <a:cs typeface="Arial"/>
              </a:defRPr>
            </a:pPr>
            <a:r>
              <a:t>CONFIDENTIAL • PREPARED FOR ONEUTILITY BANK</a:t>
            </a:r>
          </a:p>
        </p:txBody>
      </p:sp>
      <p:sp>
        <p:nvSpPr>
          <p:cNvPr id="38" name="footer.title">
            <a:extLst xmlns:a="http://schemas.openxmlformats.org/drawingml/2006/main">
              <a:ext uri="{FF2B5EF4-FFF2-40B4-BE49-F238E27FC236}">
                <a16:creationId xmlns:a16="http://schemas.microsoft.com/office/drawing/2014/main" id="{11CFE852-EBD1-4869-A015-D9728BFD5FFB}"/>
              </a:ext>
            </a:extLst>
          </p:cNvPr>
          <p:cNvSpPr>
            <a:spLocks xmlns:a="http://schemas.openxmlformats.org/drawingml/2006/main" noGrp="1"/>
          </p:cNvSpPr>
          <p:nvPr/>
        </p:nvSpPr>
        <p:spPr>
          <a:xfrm xmlns:a="http://schemas.openxmlformats.org/drawingml/2006/main">
            <a:off x="11582400" y="967740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1">
                <a:solidFill>
                  <a:srgbClr val="201E1D"/>
                </a:solidFill>
                <a:latin typeface="Arial"/>
                <a:ea typeface="Arial"/>
                <a:cs typeface="Arial"/>
              </a:defRPr>
            </a:pPr>
            <a:r>
              <a:t>1U 360 CAMPAIGN PROPOSAL</a:t>
            </a:r>
          </a:p>
        </p:txBody>
      </p:sp>
      <p:sp>
        <p:nvSpPr>
          <p:cNvPr id="39" name="footer.number.bg">
            <a:extLst xmlns:a="http://schemas.openxmlformats.org/drawingml/2006/main">
              <a:ext uri="{FF2B5EF4-FFF2-40B4-BE49-F238E27FC236}">
                <a16:creationId xmlns:a16="http://schemas.microsoft.com/office/drawing/2014/main" id="{415965B0-2A80-4EE3-9254-6DD614C3D125}"/>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solidFill xmlns:a="http://schemas.openxmlformats.org/drawingml/2006/main">
            <a:srgbClr val="2237B4"/>
          </a:solidFill>
          <a:ln xmlns:a="http://schemas.openxmlformats.org/drawingml/2006/main" w="0">
            <a:noFill/>
            <a:prstDash val="solid"/>
          </a:ln>
        </p:spPr>
      </p:sp>
      <p:sp>
        <p:nvSpPr>
          <p:cNvPr id="40" name="footer.number">
            <a:extLst xmlns:a="http://schemas.openxmlformats.org/drawingml/2006/main">
              <a:ext uri="{FF2B5EF4-FFF2-40B4-BE49-F238E27FC236}">
                <a16:creationId xmlns:a16="http://schemas.microsoft.com/office/drawing/2014/main" id="{F8447A21-9628-424F-94ED-CCBC3B766D1D}"/>
              </a:ext>
            </a:extLst>
          </p:cNvPr>
          <p:cNvSpPr>
            <a:spLocks xmlns:a="http://schemas.openxmlformats.org/drawingml/2006/main" noGrp="1"/>
          </p:cNvSpPr>
          <p:nvPr/>
        </p:nvSpPr>
        <p:spPr>
          <a:xfrm xmlns:a="http://schemas.openxmlformats.org/drawingml/2006/main">
            <a:off x="17678400" y="967740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F3F2F2"/>
                </a:solidFill>
                <a:latin typeface="Arial"/>
                <a:ea typeface="Arial"/>
                <a:cs typeface="Arial"/>
              </a:defRPr>
            </a:pPr>
            <a:r>
              <a:t>6</a:t>
            </a:r>
          </a:p>
        </p:txBody>
      </p:sp>
    </p:spTree>
    <p:extLst>
      <p:ext uri="{BB962C8B-B14F-4D97-AF65-F5344CB8AC3E}">
        <p14:creationId xmlns:p14="http://schemas.microsoft.com/office/powerpoint/2010/main" val="62336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2026-08-07T18:45:21.2690000Z</dcterms:created>
  <dcterms:modified xsi:type="dcterms:W3CDTF">2026-08-07T18:45:21.2690000Z</dcterms:modified>
</coreProperties>
</file>